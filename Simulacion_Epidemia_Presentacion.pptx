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Hola, mi nombre es Andrés Camilo Vivas Baquero. Este es mi proyecto de simulación de una epidemia tipo COVID-19, hecho con Pygame, basado en el modelo SIR que vimos en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de partida es el modelo SIR: la población se divide en sanos, infectados y recuperados, y el contagio ocurre cuando una persona infectada se acerca lo suficiente a una sana. El profesor nos pidió, además de esa base, diseñar un caso propio de decisión durante una epidemia, distinto al aislamiento genérico que mostraban los videos de referencia.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agregué son centros de vacunación con capacidad limitada. La gente sana decide, día a día, ir a vacunarse al centro más cercano. Pero cada centro solo atiende a un número fijo de personas por día, así que cuando llega más gente de la que se puede atender, se forma una fila. Ahí está el dilema: vacunarte te protege a futuro, pero mientras haces fila estás mucho más cerca de otras personas de lo normal, así que si pasa alguien infectado, el riesgo de contagio en ese momento sube. Es elegir entre protegerte después o exponerte un poco ahora.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base teórica es el SIR clásico: dS/dt, dI/dt y dR/dt, con beta como tasa de contagio y gamma como tasa de recuperación. En el programa no resolví esas ecuaciones de forma continua; las convertí en reglas discretas por agente: cada persona sana se infecta con una probabilidad si un infectado entra en su radio de contagio, y se recupera o muere al cumplir su periodo de infección según la mortalidad. Además extendí el modelo con dos estados nuevos, vacunado y en fila, para representar la vacunación con capacidad limitada.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corre en tiempo real con Pygame: el mapa con la gente moviéndose y los centros de vacunación, un gráfico que muestra cómo cambian sanos, infectados, recuperados, vacunados y fallecidos día a día, y un panel con los números exactos, incluyendo cuánta gente está en fila. Todos los parámetros, como la capacidad de los centros o qué tan contagiosa es la enfermedad, se pueden mover mientras la simulación corre. Y con un botón exporto toda la corrida a Excel para analizarla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mismo esquema aplica a un hospital o a un sistema de salud real: cualquier recurso limitado, camas UCI, personal médico, pruebas o dosis de vacuna, genera filas, y esas filas generan un riesgo adicional de contagio si no se gestionan bien. El modelo ayuda a decidir cuánta capacidad instalar y cómo distribuirla. En resumen: la base es el SIR clásico, y mi aporte fue esta capa de decisión sobre cómo repartir un recurso limitado.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5C"/>
        </a:solidFill>
      </p:bgPr>
    </p:bg>
    <p:spTree>
      <p:nvGrpSpPr>
        <p:cNvPr id="1" name=""/>
        <p:cNvGrpSpPr/>
        <p:nvPr/>
      </p:nvGrpSpPr>
      <p:grpSpPr>
        <a:xfrm>
          <a:off x="0" y="0"/>
          <a:ext cx="0" cy="0"/>
          <a:chOff x="0" y="0"/>
          <a:chExt cx="0" cy="0"/>
        </a:xfrm>
      </p:grpSpPr>
      <p:sp>
        <p:nvSpPr>
          <p:cNvPr id="2" name="Shape 0"/>
          <p:cNvSpPr/>
          <p:nvPr/>
        </p:nvSpPr>
        <p:spPr>
          <a:xfrm>
            <a:off x="8778240" y="-1463040"/>
            <a:ext cx="5486400" cy="5486400"/>
          </a:xfrm>
          <a:prstGeom prst="ellipse">
            <a:avLst/>
          </a:prstGeom>
          <a:solidFill>
            <a:srgbClr val="1C7293">
              <a:alpha val="22000"/>
            </a:srgbClr>
          </a:solidFill>
          <a:ln/>
        </p:spPr>
      </p:sp>
      <p:sp>
        <p:nvSpPr>
          <p:cNvPr id="3" name="Shape 1"/>
          <p:cNvSpPr/>
          <p:nvPr/>
        </p:nvSpPr>
        <p:spPr>
          <a:xfrm>
            <a:off x="-1645920" y="4389120"/>
            <a:ext cx="4572000" cy="4572000"/>
          </a:xfrm>
          <a:prstGeom prst="ellipse">
            <a:avLst/>
          </a:prstGeom>
          <a:solidFill>
            <a:srgbClr val="E4572E">
              <a:alpha val="15000"/>
            </a:srgbClr>
          </a:solidFill>
          <a:ln/>
        </p:spPr>
      </p:sp>
      <p:pic>
        <p:nvPicPr>
          <p:cNvPr id="4" name="Image 0" descr="C:\Users\Usuario\AppData\Local\Temp\claude\C--Users-Usuario-Desktop-AIDA-PROJECT\a0957269-a27b-472d-9403-64cb0a8be545\scratchpad\pptx_project\icons\virus.png">    </p:cNvPr>
          <p:cNvPicPr>
            <a:picLocks noChangeAspect="1"/>
          </p:cNvPicPr>
          <p:nvPr/>
        </p:nvPicPr>
        <p:blipFill>
          <a:blip r:embed="rId1"/>
          <a:stretch>
            <a:fillRect/>
          </a:stretch>
        </p:blipFill>
        <p:spPr>
          <a:xfrm>
            <a:off x="822960" y="822960"/>
            <a:ext cx="822960" cy="822960"/>
          </a:xfrm>
          <a:prstGeom prst="rect">
            <a:avLst/>
          </a:prstGeom>
        </p:spPr>
      </p:pic>
      <p:pic>
        <p:nvPicPr>
          <p:cNvPr id="5" name="Image 1" descr="C:\Users\Usuario\AppData\Local\Temp\claude\C--Users-Usuario-Desktop-AIDA-PROJECT\a0957269-a27b-472d-9403-64cb0a8be545\scratchpad\pptx_project\icons\syringe.png">    </p:cNvPr>
          <p:cNvPicPr>
            <a:picLocks noChangeAspect="1"/>
          </p:cNvPicPr>
          <p:nvPr/>
        </p:nvPicPr>
        <p:blipFill>
          <a:blip r:embed="rId2"/>
          <a:stretch>
            <a:fillRect/>
          </a:stretch>
        </p:blipFill>
        <p:spPr>
          <a:xfrm>
            <a:off x="1874520" y="1143000"/>
            <a:ext cx="502920" cy="502920"/>
          </a:xfrm>
          <a:prstGeom prst="rect">
            <a:avLst/>
          </a:prstGeom>
        </p:spPr>
      </p:pic>
      <p:sp>
        <p:nvSpPr>
          <p:cNvPr id="6" name="Text 2"/>
          <p:cNvSpPr txBox="1"/>
          <p:nvPr/>
        </p:nvSpPr>
        <p:spPr>
          <a:xfrm>
            <a:off x="822960" y="2286000"/>
            <a:ext cx="10058400" cy="457200"/>
          </a:xfrm>
          <a:prstGeom prst="rect">
            <a:avLst/>
          </a:prstGeom>
          <a:noFill/>
          <a:ln/>
        </p:spPr>
        <p:txBody>
          <a:bodyPr wrap="square" lIns="0" tIns="0" rIns="0" bIns="0" rtlCol="0" anchor="ctr"/>
          <a:lstStyle/>
          <a:p>
            <a:pPr indent="0" marL="0">
              <a:buNone/>
            </a:pPr>
            <a:r>
              <a:rPr lang="en-US" sz="1500" b="1" spc="300" kern="0" dirty="0">
                <a:solidFill>
                  <a:srgbClr val="8FD3E8"/>
                </a:solidFill>
                <a:latin typeface="Calibri" pitchFamily="34" charset="0"/>
                <a:ea typeface="Calibri" pitchFamily="34" charset="-122"/>
                <a:cs typeface="Calibri" pitchFamily="34" charset="-120"/>
              </a:rPr>
              <a:t>SIMULACIÓN DE EPIDEMIA</a:t>
            </a:r>
            <a:endParaRPr lang="en-US" sz="1500" dirty="0"/>
          </a:p>
        </p:txBody>
      </p:sp>
      <p:sp>
        <p:nvSpPr>
          <p:cNvPr id="7" name="Text 3"/>
          <p:cNvSpPr txBox="1"/>
          <p:nvPr/>
        </p:nvSpPr>
        <p:spPr>
          <a:xfrm>
            <a:off x="777240" y="2697480"/>
            <a:ext cx="10058400" cy="173736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Vacunación con centros de</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capacidad limitada</a:t>
            </a:r>
            <a:endParaRPr lang="en-US" sz="4600" dirty="0"/>
          </a:p>
        </p:txBody>
      </p:sp>
      <p:sp>
        <p:nvSpPr>
          <p:cNvPr id="8" name="Text 4"/>
          <p:cNvSpPr txBox="1"/>
          <p:nvPr/>
        </p:nvSpPr>
        <p:spPr>
          <a:xfrm>
            <a:off x="822960" y="4434840"/>
            <a:ext cx="8686800" cy="457200"/>
          </a:xfrm>
          <a:prstGeom prst="rect">
            <a:avLst/>
          </a:prstGeom>
          <a:noFill/>
          <a:ln/>
        </p:spPr>
        <p:txBody>
          <a:bodyPr wrap="square" lIns="0" tIns="0" rIns="0" bIns="0" rtlCol="0" anchor="ctr"/>
          <a:lstStyle/>
          <a:p>
            <a:pPr indent="0" marL="0">
              <a:buNone/>
            </a:pPr>
            <a:r>
              <a:rPr lang="en-US" sz="1600" i="1" dirty="0">
                <a:solidFill>
                  <a:srgbClr val="CADCE8"/>
                </a:solidFill>
                <a:latin typeface="Calibri" pitchFamily="34" charset="0"/>
                <a:ea typeface="Calibri" pitchFamily="34" charset="-122"/>
                <a:cs typeface="Calibri" pitchFamily="34" charset="-120"/>
              </a:rPr>
              <a:t>Un modelo SIR agente-basado, con la decisión de cómo repartir un recurso limitado</a:t>
            </a:r>
            <a:endParaRPr lang="en-US" sz="1600" dirty="0"/>
          </a:p>
        </p:txBody>
      </p:sp>
      <p:sp>
        <p:nvSpPr>
          <p:cNvPr id="9" name="Text 5"/>
          <p:cNvSpPr txBox="1"/>
          <p:nvPr/>
        </p:nvSpPr>
        <p:spPr>
          <a:xfrm>
            <a:off x="822960" y="5989320"/>
            <a:ext cx="54864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Andrés Camilo Vivas Baquero</a:t>
            </a:r>
            <a:endParaRPr lang="en-US" sz="1300" dirty="0"/>
          </a:p>
        </p:txBody>
      </p:sp>
      <p:sp>
        <p:nvSpPr>
          <p:cNvPr id="10" name="Text 6"/>
          <p:cNvSpPr txBox="1"/>
          <p:nvPr/>
        </p:nvSpPr>
        <p:spPr>
          <a:xfrm>
            <a:off x="822960" y="6309360"/>
            <a:ext cx="5486400" cy="274320"/>
          </a:xfrm>
          <a:prstGeom prst="rect">
            <a:avLst/>
          </a:prstGeom>
          <a:noFill/>
          <a:ln/>
        </p:spPr>
        <p:txBody>
          <a:bodyPr wrap="square" lIns="0" tIns="0" rIns="0" bIns="0" rtlCol="0" anchor="ctr"/>
          <a:lstStyle/>
          <a:p>
            <a:pPr indent="0" marL="0">
              <a:buNone/>
            </a:pPr>
            <a:r>
              <a:rPr lang="en-US" sz="1150" dirty="0">
                <a:solidFill>
                  <a:srgbClr val="9FB9C8"/>
                </a:solidFill>
                <a:latin typeface="Calibri" pitchFamily="34" charset="0"/>
                <a:ea typeface="Calibri" pitchFamily="34" charset="-122"/>
                <a:cs typeface="Calibri" pitchFamily="34" charset="-120"/>
              </a:rPr>
              <a:t>Modelado y Simulación · Pygame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p:bgPr>
    </p:bg>
    <p:spTree>
      <p:nvGrpSpPr>
        <p:cNvPr id="1" name=""/>
        <p:cNvGrpSpPr/>
        <p:nvPr/>
      </p:nvGrpSpPr>
      <p:grpSpPr>
        <a:xfrm>
          <a:off x="0" y="0"/>
          <a:ext cx="0" cy="0"/>
          <a:chOff x="0" y="0"/>
          <a:chExt cx="0" cy="0"/>
        </a:xfrm>
      </p:grpSpPr>
      <p:pic>
        <p:nvPicPr>
          <p:cNvPr id="2" name="Image 0" descr="C:\Users\Usuario\AppData\Local\Temp\claude\C--Users-Usuario-Desktop-AIDA-PROJECT\a0957269-a27b-472d-9403-64cb0a8be545\scratchpad\pptx_project\icons\virus.png">    </p:cNvPr>
          <p:cNvPicPr>
            <a:picLocks noChangeAspect="1"/>
          </p:cNvPicPr>
          <p:nvPr/>
        </p:nvPicPr>
        <p:blipFill>
          <a:blip r:embed="rId1"/>
          <a:stretch>
            <a:fillRect/>
          </a:stretch>
        </p:blipFill>
        <p:spPr>
          <a:xfrm>
            <a:off x="548640" y="502920"/>
            <a:ext cx="566928" cy="566928"/>
          </a:xfrm>
          <a:prstGeom prst="rect">
            <a:avLst/>
          </a:prstGeom>
        </p:spPr>
      </p:pic>
      <p:sp>
        <p:nvSpPr>
          <p:cNvPr id="3" name="Text 0"/>
          <p:cNvSpPr txBox="1"/>
          <p:nvPr/>
        </p:nvSpPr>
        <p:spPr>
          <a:xfrm>
            <a:off x="1280160" y="457200"/>
            <a:ext cx="7315200" cy="292608"/>
          </a:xfrm>
          <a:prstGeom prst="rect">
            <a:avLst/>
          </a:prstGeom>
          <a:noFill/>
          <a:ln/>
        </p:spPr>
        <p:txBody>
          <a:bodyPr wrap="square" lIns="0" tIns="0" rIns="0" bIns="0" rtlCol="0" anchor="ctr"/>
          <a:lstStyle/>
          <a:p>
            <a:pPr indent="0" marL="0">
              <a:buNone/>
            </a:pPr>
            <a:r>
              <a:rPr lang="en-US" sz="1250" b="1" spc="150" kern="0" dirty="0">
                <a:solidFill>
                  <a:srgbClr val="1C7293"/>
                </a:solidFill>
                <a:latin typeface="Calibri" pitchFamily="34" charset="0"/>
                <a:ea typeface="Calibri" pitchFamily="34" charset="-122"/>
                <a:cs typeface="Calibri" pitchFamily="34" charset="-120"/>
              </a:rPr>
              <a:t>CONTEXTO</a:t>
            </a:r>
            <a:endParaRPr lang="en-US" sz="1250" dirty="0"/>
          </a:p>
        </p:txBody>
      </p:sp>
      <p:sp>
        <p:nvSpPr>
          <p:cNvPr id="4" name="Text 1"/>
          <p:cNvSpPr txBox="1"/>
          <p:nvPr/>
        </p:nvSpPr>
        <p:spPr>
          <a:xfrm>
            <a:off x="1280160" y="713232"/>
            <a:ext cx="9601200" cy="566928"/>
          </a:xfrm>
          <a:prstGeom prst="rect">
            <a:avLst/>
          </a:prstGeom>
          <a:noFill/>
          <a:ln/>
        </p:spPr>
        <p:txBody>
          <a:bodyPr wrap="square" lIns="0" tIns="0" rIns="0" bIns="0" rtlCol="0" anchor="ctr"/>
          <a:lstStyle/>
          <a:p>
            <a:pPr indent="0" marL="0">
              <a:buNone/>
            </a:pPr>
            <a:r>
              <a:rPr lang="en-US" sz="3000" b="1" dirty="0">
                <a:solidFill>
                  <a:srgbClr val="0B3D5C"/>
                </a:solidFill>
                <a:latin typeface="Cambria" pitchFamily="34" charset="0"/>
                <a:ea typeface="Cambria" pitchFamily="34" charset="-122"/>
                <a:cs typeface="Cambria" pitchFamily="34" charset="-120"/>
              </a:rPr>
              <a:t>El punto de partida: el modelo SIR</a:t>
            </a:r>
            <a:endParaRPr lang="en-US" sz="3000" dirty="0"/>
          </a:p>
        </p:txBody>
      </p:sp>
      <p:sp>
        <p:nvSpPr>
          <p:cNvPr id="5" name="Text 2"/>
          <p:cNvSpPr txBox="1"/>
          <p:nvPr/>
        </p:nvSpPr>
        <p:spPr>
          <a:xfrm>
            <a:off x="640080" y="1600200"/>
            <a:ext cx="5852160" cy="3291840"/>
          </a:xfrm>
          <a:prstGeom prst="rect">
            <a:avLst/>
          </a:prstGeom>
          <a:noFill/>
          <a:ln/>
        </p:spPr>
        <p:txBody>
          <a:bodyPr wrap="square" lIns="0" tIns="0" rIns="0" bIns="0" rtlCol="0" anchor="t"/>
          <a:lstStyle/>
          <a:p>
            <a:pPr marL="342900" indent="-342900">
              <a:spcAft>
                <a:spcPts val="1400"/>
              </a:spcAft>
              <a:buSzPct val="100000"/>
              <a:buChar char="•"/>
            </a:pPr>
            <a:r>
              <a:rPr lang="en-US" sz="1550" dirty="0">
                <a:solidFill>
                  <a:srgbClr val="1B2A33"/>
                </a:solidFill>
                <a:latin typeface="Calibri" pitchFamily="34" charset="0"/>
                <a:ea typeface="Calibri" pitchFamily="34" charset="-122"/>
                <a:cs typeface="Calibri" pitchFamily="34" charset="-120"/>
              </a:rPr>
              <a:t>La población se divide en tres grupos: Sanos, Infectados y Recuperados.</a:t>
            </a:r>
            <a:endParaRPr lang="en-US" sz="1550" dirty="0"/>
          </a:p>
          <a:p>
            <a:pPr marL="342900" indent="-342900">
              <a:spcAft>
                <a:spcPts val="1400"/>
              </a:spcAft>
              <a:buSzPct val="100000"/>
              <a:buChar char="•"/>
            </a:pPr>
            <a:r>
              <a:rPr lang="en-US" sz="1550" dirty="0">
                <a:solidFill>
                  <a:srgbClr val="1B2A33"/>
                </a:solidFill>
                <a:latin typeface="Calibri" pitchFamily="34" charset="0"/>
                <a:ea typeface="Calibri" pitchFamily="34" charset="-122"/>
                <a:cs typeface="Calibri" pitchFamily="34" charset="-120"/>
              </a:rPr>
              <a:t>El contagio depende de la cercanía entre una persona infectada y una sana.</a:t>
            </a:r>
            <a:endParaRPr lang="en-US" sz="1550" dirty="0"/>
          </a:p>
          <a:p>
            <a:pPr marL="342900" indent="-342900">
              <a:spcAft>
                <a:spcPts val="1400"/>
              </a:spcAft>
              <a:buSzPct val="100000"/>
              <a:buChar char="•"/>
            </a:pPr>
            <a:r>
              <a:rPr lang="en-US" sz="1550" dirty="0">
                <a:solidFill>
                  <a:srgbClr val="1B2A33"/>
                </a:solidFill>
                <a:latin typeface="Calibri" pitchFamily="34" charset="0"/>
                <a:ea typeface="Calibri" pitchFamily="34" charset="-122"/>
                <a:cs typeface="Calibri" pitchFamily="34" charset="-120"/>
              </a:rPr>
              <a:t>Reto del curso: diseñar un caso propio de decisión durante una epidemia, distinto al aislamiento genérico (aislamiento, EPP, atención médica, vacunación...).</a:t>
            </a:r>
            <a:endParaRPr lang="en-US" sz="1550" dirty="0"/>
          </a:p>
        </p:txBody>
      </p:sp>
      <p:sp>
        <p:nvSpPr>
          <p:cNvPr id="6" name="Shape 3"/>
          <p:cNvSpPr/>
          <p:nvPr/>
        </p:nvSpPr>
        <p:spPr>
          <a:xfrm>
            <a:off x="6858000" y="1920240"/>
            <a:ext cx="1234440" cy="914400"/>
          </a:xfrm>
          <a:prstGeom prst="roundRect">
            <a:avLst>
              <a:gd name="adj" fmla="val 12000"/>
            </a:avLst>
          </a:prstGeom>
          <a:solidFill>
            <a:srgbClr val="FFFFFF"/>
          </a:solidFill>
          <a:ln w="12700">
            <a:solidFill>
              <a:srgbClr val="DCE6EB"/>
            </a:solidFill>
            <a:prstDash val="solid"/>
          </a:ln>
          <a:effectLst>
            <a:outerShdw sx="100000" sy="100000" kx="0" ky="0" algn="bl" rotWithShape="0" blurRad="101600" dist="38100" dir="5400000">
              <a:srgbClr val="667788">
                <a:alpha val="25000"/>
              </a:srgbClr>
            </a:outerShdw>
          </a:effectLst>
        </p:spPr>
      </p:sp>
      <p:sp>
        <p:nvSpPr>
          <p:cNvPr id="7" name="Text 4"/>
          <p:cNvSpPr txBox="1"/>
          <p:nvPr/>
        </p:nvSpPr>
        <p:spPr>
          <a:xfrm>
            <a:off x="6858000" y="1993392"/>
            <a:ext cx="1234440" cy="457200"/>
          </a:xfrm>
          <a:prstGeom prst="rect">
            <a:avLst/>
          </a:prstGeom>
          <a:noFill/>
          <a:ln/>
        </p:spPr>
        <p:txBody>
          <a:bodyPr wrap="square" lIns="0" tIns="0" rIns="0" bIns="0" rtlCol="0" anchor="ctr"/>
          <a:lstStyle/>
          <a:p>
            <a:pPr algn="ctr" indent="0" marL="0">
              <a:buNone/>
            </a:pPr>
            <a:r>
              <a:rPr lang="en-US" sz="2600" b="1" dirty="0">
                <a:solidFill>
                  <a:srgbClr val="1C7293"/>
                </a:solidFill>
                <a:latin typeface="Cambria" pitchFamily="34" charset="0"/>
                <a:ea typeface="Cambria" pitchFamily="34" charset="-122"/>
                <a:cs typeface="Cambria" pitchFamily="34" charset="-120"/>
              </a:rPr>
              <a:t>S</a:t>
            </a:r>
            <a:endParaRPr lang="en-US" sz="2600" dirty="0"/>
          </a:p>
        </p:txBody>
      </p:sp>
      <p:sp>
        <p:nvSpPr>
          <p:cNvPr id="8" name="Text 5"/>
          <p:cNvSpPr txBox="1"/>
          <p:nvPr/>
        </p:nvSpPr>
        <p:spPr>
          <a:xfrm>
            <a:off x="6858000" y="2450592"/>
            <a:ext cx="1234440" cy="320040"/>
          </a:xfrm>
          <a:prstGeom prst="rect">
            <a:avLst/>
          </a:prstGeom>
          <a:noFill/>
          <a:ln/>
        </p:spPr>
        <p:txBody>
          <a:bodyPr wrap="square" lIns="0" tIns="0" rIns="0" bIns="0" rtlCol="0" anchor="ctr"/>
          <a:lstStyle/>
          <a:p>
            <a:pPr algn="ctr" indent="0" marL="0">
              <a:buNone/>
            </a:pPr>
            <a:r>
              <a:rPr lang="en-US" sz="1200" dirty="0">
                <a:solidFill>
                  <a:srgbClr val="1B2A33"/>
                </a:solidFill>
                <a:latin typeface="Calibri" pitchFamily="34" charset="0"/>
                <a:ea typeface="Calibri" pitchFamily="34" charset="-122"/>
                <a:cs typeface="Calibri" pitchFamily="34" charset="-120"/>
              </a:rPr>
              <a:t>Sanos</a:t>
            </a:r>
            <a:endParaRPr lang="en-US" sz="1200" dirty="0"/>
          </a:p>
        </p:txBody>
      </p:sp>
      <p:sp>
        <p:nvSpPr>
          <p:cNvPr id="9" name="Shape 6"/>
          <p:cNvSpPr/>
          <p:nvPr/>
        </p:nvSpPr>
        <p:spPr>
          <a:xfrm>
            <a:off x="8165592" y="2249424"/>
            <a:ext cx="356616" cy="256032"/>
          </a:xfrm>
          <a:prstGeom prst="rightArrow">
            <a:avLst/>
          </a:prstGeom>
          <a:solidFill>
            <a:srgbClr val="5C7A8A"/>
          </a:solidFill>
          <a:ln/>
        </p:spPr>
      </p:sp>
      <p:sp>
        <p:nvSpPr>
          <p:cNvPr id="10" name="Shape 7"/>
          <p:cNvSpPr/>
          <p:nvPr/>
        </p:nvSpPr>
        <p:spPr>
          <a:xfrm>
            <a:off x="8595360" y="1920240"/>
            <a:ext cx="1234440" cy="914400"/>
          </a:xfrm>
          <a:prstGeom prst="roundRect">
            <a:avLst>
              <a:gd name="adj" fmla="val 12000"/>
            </a:avLst>
          </a:prstGeom>
          <a:solidFill>
            <a:srgbClr val="FFFFFF"/>
          </a:solidFill>
          <a:ln w="12700">
            <a:solidFill>
              <a:srgbClr val="DCE6EB"/>
            </a:solidFill>
            <a:prstDash val="solid"/>
          </a:ln>
          <a:effectLst>
            <a:outerShdw sx="100000" sy="100000" kx="0" ky="0" algn="bl" rotWithShape="0" blurRad="101600" dist="38100" dir="5400000">
              <a:srgbClr val="667788">
                <a:alpha val="25000"/>
              </a:srgbClr>
            </a:outerShdw>
          </a:effectLst>
        </p:spPr>
      </p:sp>
      <p:sp>
        <p:nvSpPr>
          <p:cNvPr id="11" name="Text 8"/>
          <p:cNvSpPr txBox="1"/>
          <p:nvPr/>
        </p:nvSpPr>
        <p:spPr>
          <a:xfrm>
            <a:off x="8595360" y="1993392"/>
            <a:ext cx="1234440" cy="457200"/>
          </a:xfrm>
          <a:prstGeom prst="rect">
            <a:avLst/>
          </a:prstGeom>
          <a:noFill/>
          <a:ln/>
        </p:spPr>
        <p:txBody>
          <a:bodyPr wrap="square" lIns="0" tIns="0" rIns="0" bIns="0" rtlCol="0" anchor="ctr"/>
          <a:lstStyle/>
          <a:p>
            <a:pPr algn="ctr" indent="0" marL="0">
              <a:buNone/>
            </a:pPr>
            <a:r>
              <a:rPr lang="en-US" sz="2600" b="1" dirty="0">
                <a:solidFill>
                  <a:srgbClr val="E4572E"/>
                </a:solidFill>
                <a:latin typeface="Cambria" pitchFamily="34" charset="0"/>
                <a:ea typeface="Cambria" pitchFamily="34" charset="-122"/>
                <a:cs typeface="Cambria" pitchFamily="34" charset="-120"/>
              </a:rPr>
              <a:t>I</a:t>
            </a:r>
            <a:endParaRPr lang="en-US" sz="2600" dirty="0"/>
          </a:p>
        </p:txBody>
      </p:sp>
      <p:sp>
        <p:nvSpPr>
          <p:cNvPr id="12" name="Text 9"/>
          <p:cNvSpPr txBox="1"/>
          <p:nvPr/>
        </p:nvSpPr>
        <p:spPr>
          <a:xfrm>
            <a:off x="8595360" y="2450592"/>
            <a:ext cx="1234440" cy="320040"/>
          </a:xfrm>
          <a:prstGeom prst="rect">
            <a:avLst/>
          </a:prstGeom>
          <a:noFill/>
          <a:ln/>
        </p:spPr>
        <p:txBody>
          <a:bodyPr wrap="square" lIns="0" tIns="0" rIns="0" bIns="0" rtlCol="0" anchor="ctr"/>
          <a:lstStyle/>
          <a:p>
            <a:pPr algn="ctr" indent="0" marL="0">
              <a:buNone/>
            </a:pPr>
            <a:r>
              <a:rPr lang="en-US" sz="1200" dirty="0">
                <a:solidFill>
                  <a:srgbClr val="1B2A33"/>
                </a:solidFill>
                <a:latin typeface="Calibri" pitchFamily="34" charset="0"/>
                <a:ea typeface="Calibri" pitchFamily="34" charset="-122"/>
                <a:cs typeface="Calibri" pitchFamily="34" charset="-120"/>
              </a:rPr>
              <a:t>Infectados</a:t>
            </a:r>
            <a:endParaRPr lang="en-US" sz="1200" dirty="0"/>
          </a:p>
        </p:txBody>
      </p:sp>
      <p:sp>
        <p:nvSpPr>
          <p:cNvPr id="13" name="Shape 10"/>
          <p:cNvSpPr/>
          <p:nvPr/>
        </p:nvSpPr>
        <p:spPr>
          <a:xfrm>
            <a:off x="9902952" y="2249424"/>
            <a:ext cx="356616" cy="256032"/>
          </a:xfrm>
          <a:prstGeom prst="rightArrow">
            <a:avLst/>
          </a:prstGeom>
          <a:solidFill>
            <a:srgbClr val="5C7A8A"/>
          </a:solidFill>
          <a:ln/>
        </p:spPr>
      </p:sp>
      <p:sp>
        <p:nvSpPr>
          <p:cNvPr id="14" name="Shape 11"/>
          <p:cNvSpPr/>
          <p:nvPr/>
        </p:nvSpPr>
        <p:spPr>
          <a:xfrm>
            <a:off x="10332720" y="1920240"/>
            <a:ext cx="1234440" cy="914400"/>
          </a:xfrm>
          <a:prstGeom prst="roundRect">
            <a:avLst>
              <a:gd name="adj" fmla="val 12000"/>
            </a:avLst>
          </a:prstGeom>
          <a:solidFill>
            <a:srgbClr val="FFFFFF"/>
          </a:solidFill>
          <a:ln w="12700">
            <a:solidFill>
              <a:srgbClr val="DCE6EB"/>
            </a:solidFill>
            <a:prstDash val="solid"/>
          </a:ln>
          <a:effectLst>
            <a:outerShdw sx="100000" sy="100000" kx="0" ky="0" algn="bl" rotWithShape="0" blurRad="101600" dist="38100" dir="5400000">
              <a:srgbClr val="667788">
                <a:alpha val="25000"/>
              </a:srgbClr>
            </a:outerShdw>
          </a:effectLst>
        </p:spPr>
      </p:sp>
      <p:sp>
        <p:nvSpPr>
          <p:cNvPr id="15" name="Text 12"/>
          <p:cNvSpPr txBox="1"/>
          <p:nvPr/>
        </p:nvSpPr>
        <p:spPr>
          <a:xfrm>
            <a:off x="10332720" y="1993392"/>
            <a:ext cx="1234440" cy="457200"/>
          </a:xfrm>
          <a:prstGeom prst="rect">
            <a:avLst/>
          </a:prstGeom>
          <a:noFill/>
          <a:ln/>
        </p:spPr>
        <p:txBody>
          <a:bodyPr wrap="square" lIns="0" tIns="0" rIns="0" bIns="0" rtlCol="0" anchor="ctr"/>
          <a:lstStyle/>
          <a:p>
            <a:pPr algn="ctr" indent="0" marL="0">
              <a:buNone/>
            </a:pPr>
            <a:r>
              <a:rPr lang="en-US" sz="2600" b="1" dirty="0">
                <a:solidFill>
                  <a:srgbClr val="5C7A8A"/>
                </a:solidFill>
                <a:latin typeface="Cambria" pitchFamily="34" charset="0"/>
                <a:ea typeface="Cambria" pitchFamily="34" charset="-122"/>
                <a:cs typeface="Cambria" pitchFamily="34" charset="-120"/>
              </a:rPr>
              <a:t>R</a:t>
            </a:r>
            <a:endParaRPr lang="en-US" sz="2600" dirty="0"/>
          </a:p>
        </p:txBody>
      </p:sp>
      <p:sp>
        <p:nvSpPr>
          <p:cNvPr id="16" name="Text 13"/>
          <p:cNvSpPr txBox="1"/>
          <p:nvPr/>
        </p:nvSpPr>
        <p:spPr>
          <a:xfrm>
            <a:off x="10332720" y="2450592"/>
            <a:ext cx="1234440" cy="320040"/>
          </a:xfrm>
          <a:prstGeom prst="rect">
            <a:avLst/>
          </a:prstGeom>
          <a:noFill/>
          <a:ln/>
        </p:spPr>
        <p:txBody>
          <a:bodyPr wrap="square" lIns="0" tIns="0" rIns="0" bIns="0" rtlCol="0" anchor="ctr"/>
          <a:lstStyle/>
          <a:p>
            <a:pPr algn="ctr" indent="0" marL="0">
              <a:buNone/>
            </a:pPr>
            <a:r>
              <a:rPr lang="en-US" sz="1200" dirty="0">
                <a:solidFill>
                  <a:srgbClr val="1B2A33"/>
                </a:solidFill>
                <a:latin typeface="Calibri" pitchFamily="34" charset="0"/>
                <a:ea typeface="Calibri" pitchFamily="34" charset="-122"/>
                <a:cs typeface="Calibri" pitchFamily="34" charset="-120"/>
              </a:rPr>
              <a:t>Recuperados</a:t>
            </a:r>
            <a:endParaRPr lang="en-US" sz="1200" dirty="0"/>
          </a:p>
        </p:txBody>
      </p:sp>
      <p:sp>
        <p:nvSpPr>
          <p:cNvPr id="17" name="Text 14"/>
          <p:cNvSpPr txBox="1"/>
          <p:nvPr/>
        </p:nvSpPr>
        <p:spPr>
          <a:xfrm>
            <a:off x="6858000" y="3154680"/>
            <a:ext cx="4709160" cy="320040"/>
          </a:xfrm>
          <a:prstGeom prst="rect">
            <a:avLst/>
          </a:prstGeom>
          <a:noFill/>
          <a:ln/>
        </p:spPr>
        <p:txBody>
          <a:bodyPr wrap="square" lIns="0" tIns="0" rIns="0" bIns="0" rtlCol="0" anchor="ctr"/>
          <a:lstStyle/>
          <a:p>
            <a:pPr algn="ctr" indent="0" marL="0">
              <a:buNone/>
            </a:pPr>
            <a:r>
              <a:rPr lang="en-US" sz="1150" i="1" dirty="0">
                <a:solidFill>
                  <a:srgbClr val="5C7A8A"/>
                </a:solidFill>
                <a:latin typeface="Calibri" pitchFamily="34" charset="0"/>
                <a:ea typeface="Calibri" pitchFamily="34" charset="-122"/>
                <a:cs typeface="Calibri" pitchFamily="34" charset="-120"/>
              </a:rPr>
              <a:t>Compartimentos clásicos vistos en clase</a:t>
            </a:r>
            <a:endParaRPr lang="en-US" sz="1150" dirty="0"/>
          </a:p>
        </p:txBody>
      </p:sp>
      <p:sp>
        <p:nvSpPr>
          <p:cNvPr id="18" name="Text 15"/>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50" dirty="0">
                <a:solidFill>
                  <a:srgbClr val="5C7A8A"/>
                </a:solidFill>
                <a:latin typeface="Calibri" pitchFamily="34" charset="0"/>
                <a:ea typeface="Calibri" pitchFamily="34" charset="-122"/>
                <a:cs typeface="Calibri" pitchFamily="34" charset="-120"/>
              </a:rPr>
              <a:t>Simulación de epidemia — Centros de vacunación</a:t>
            </a:r>
            <a:endParaRPr lang="en-US" sz="950" dirty="0"/>
          </a:p>
        </p:txBody>
      </p:sp>
      <p:sp>
        <p:nvSpPr>
          <p:cNvPr id="19" name="Text 16"/>
          <p:cNvSpPr txBox="1"/>
          <p:nvPr/>
        </p:nvSpPr>
        <p:spPr>
          <a:xfrm>
            <a:off x="11185855" y="6510528"/>
            <a:ext cx="457200" cy="274320"/>
          </a:xfrm>
          <a:prstGeom prst="rect">
            <a:avLst/>
          </a:prstGeom>
          <a:noFill/>
          <a:ln/>
        </p:spPr>
        <p:txBody>
          <a:bodyPr wrap="square" lIns="0" tIns="0" rIns="0" bIns="0" rtlCol="0" anchor="ctr"/>
          <a:lstStyle/>
          <a:p>
            <a:pPr algn="r" indent="0" marL="0">
              <a:buNone/>
            </a:pPr>
            <a:r>
              <a:rPr lang="en-US" sz="950" dirty="0">
                <a:solidFill>
                  <a:srgbClr val="5C7A8A"/>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pic>
        <p:nvPicPr>
          <p:cNvPr id="2" name="Image 0" descr="C:\Users\Usuario\AppData\Local\Temp\claude\C--Users-Usuario-Desktop-AIDA-PROJECT\a0957269-a27b-472d-9403-64cb0a8be545\scratchpad\pptx_project\icons\syringe.png">    </p:cNvPr>
          <p:cNvPicPr>
            <a:picLocks noChangeAspect="1"/>
          </p:cNvPicPr>
          <p:nvPr/>
        </p:nvPicPr>
        <p:blipFill>
          <a:blip r:embed="rId1"/>
          <a:stretch>
            <a:fillRect/>
          </a:stretch>
        </p:blipFill>
        <p:spPr>
          <a:xfrm>
            <a:off x="548640" y="502920"/>
            <a:ext cx="566928" cy="566928"/>
          </a:xfrm>
          <a:prstGeom prst="rect">
            <a:avLst/>
          </a:prstGeom>
        </p:spPr>
      </p:pic>
      <p:sp>
        <p:nvSpPr>
          <p:cNvPr id="3" name="Text 0"/>
          <p:cNvSpPr txBox="1"/>
          <p:nvPr/>
        </p:nvSpPr>
        <p:spPr>
          <a:xfrm>
            <a:off x="1280160" y="457200"/>
            <a:ext cx="7315200" cy="292608"/>
          </a:xfrm>
          <a:prstGeom prst="rect">
            <a:avLst/>
          </a:prstGeom>
          <a:noFill/>
          <a:ln/>
        </p:spPr>
        <p:txBody>
          <a:bodyPr wrap="square" lIns="0" tIns="0" rIns="0" bIns="0" rtlCol="0" anchor="ctr"/>
          <a:lstStyle/>
          <a:p>
            <a:pPr indent="0" marL="0">
              <a:buNone/>
            </a:pPr>
            <a:r>
              <a:rPr lang="en-US" sz="1250" b="1" spc="150" kern="0" dirty="0">
                <a:solidFill>
                  <a:srgbClr val="E4572E"/>
                </a:solidFill>
                <a:latin typeface="Calibri" pitchFamily="34" charset="0"/>
                <a:ea typeface="Calibri" pitchFamily="34" charset="-122"/>
                <a:cs typeface="Calibri" pitchFamily="34" charset="-120"/>
              </a:rPr>
              <a:t>SOLUCIÓN</a:t>
            </a:r>
            <a:endParaRPr lang="en-US" sz="1250" dirty="0"/>
          </a:p>
        </p:txBody>
      </p:sp>
      <p:sp>
        <p:nvSpPr>
          <p:cNvPr id="4" name="Text 1"/>
          <p:cNvSpPr txBox="1"/>
          <p:nvPr/>
        </p:nvSpPr>
        <p:spPr>
          <a:xfrm>
            <a:off x="1280160" y="713232"/>
            <a:ext cx="9601200" cy="566928"/>
          </a:xfrm>
          <a:prstGeom prst="rect">
            <a:avLst/>
          </a:prstGeom>
          <a:noFill/>
          <a:ln/>
        </p:spPr>
        <p:txBody>
          <a:bodyPr wrap="square" lIns="0" tIns="0" rIns="0" bIns="0" rtlCol="0" anchor="ctr"/>
          <a:lstStyle/>
          <a:p>
            <a:pPr indent="0" marL="0">
              <a:buNone/>
            </a:pPr>
            <a:r>
              <a:rPr lang="en-US" sz="3000" b="1" dirty="0">
                <a:solidFill>
                  <a:srgbClr val="0B3D5C"/>
                </a:solidFill>
                <a:latin typeface="Cambria" pitchFamily="34" charset="0"/>
                <a:ea typeface="Cambria" pitchFamily="34" charset="-122"/>
                <a:cs typeface="Cambria" pitchFamily="34" charset="-120"/>
              </a:rPr>
              <a:t>Centros de vacunación con capacidad limitada</a:t>
            </a:r>
            <a:endParaRPr lang="en-US" sz="3000" dirty="0"/>
          </a:p>
        </p:txBody>
      </p:sp>
      <p:sp>
        <p:nvSpPr>
          <p:cNvPr id="5" name="Text 2"/>
          <p:cNvSpPr txBox="1"/>
          <p:nvPr/>
        </p:nvSpPr>
        <p:spPr>
          <a:xfrm>
            <a:off x="640080" y="1600200"/>
            <a:ext cx="5577840" cy="237744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B2A33"/>
                </a:solidFill>
                <a:latin typeface="Calibri" pitchFamily="34" charset="0"/>
                <a:ea typeface="Calibri" pitchFamily="34" charset="-122"/>
                <a:cs typeface="Calibri" pitchFamily="34" charset="-120"/>
              </a:rPr>
              <a:t>La gente sana decide, día a día, ir a vacunarse al centro más cercano.</a:t>
            </a:r>
            <a:endParaRPr lang="en-US" sz="1550" dirty="0"/>
          </a:p>
          <a:p>
            <a:pPr marL="342900" indent="-342900">
              <a:spcAft>
                <a:spcPts val="1200"/>
              </a:spcAft>
              <a:buSzPct val="100000"/>
              <a:buChar char="•"/>
            </a:pPr>
            <a:r>
              <a:rPr lang="en-US" sz="1550" dirty="0">
                <a:solidFill>
                  <a:srgbClr val="1B2A33"/>
                </a:solidFill>
                <a:latin typeface="Calibri" pitchFamily="34" charset="0"/>
                <a:ea typeface="Calibri" pitchFamily="34" charset="-122"/>
                <a:cs typeface="Calibri" pitchFamily="34" charset="-120"/>
              </a:rPr>
              <a:t>Cada centro atiende solo un número fijo de personas por día.</a:t>
            </a:r>
            <a:endParaRPr lang="en-US" sz="1550" dirty="0"/>
          </a:p>
          <a:p>
            <a:pPr marL="342900" indent="-342900">
              <a:spcAft>
                <a:spcPts val="1200"/>
              </a:spcAft>
              <a:buSzPct val="100000"/>
              <a:buChar char="•"/>
            </a:pPr>
            <a:r>
              <a:rPr lang="en-US" sz="1550" dirty="0">
                <a:solidFill>
                  <a:srgbClr val="1B2A33"/>
                </a:solidFill>
                <a:latin typeface="Calibri" pitchFamily="34" charset="0"/>
                <a:ea typeface="Calibri" pitchFamily="34" charset="-122"/>
                <a:cs typeface="Calibri" pitchFamily="34" charset="-120"/>
              </a:rPr>
              <a:t>Si llega más gente de la que se puede atender, se forma una fila.</a:t>
            </a:r>
            <a:endParaRPr lang="en-US" sz="1550" dirty="0"/>
          </a:p>
        </p:txBody>
      </p:sp>
      <p:sp>
        <p:nvSpPr>
          <p:cNvPr id="6" name="Shape 3"/>
          <p:cNvSpPr/>
          <p:nvPr/>
        </p:nvSpPr>
        <p:spPr>
          <a:xfrm>
            <a:off x="640080" y="3977640"/>
            <a:ext cx="5577840" cy="1828800"/>
          </a:xfrm>
          <a:prstGeom prst="roundRect">
            <a:avLst>
              <a:gd name="adj" fmla="val 5000"/>
            </a:avLst>
          </a:prstGeom>
          <a:solidFill>
            <a:srgbClr val="0B3D5C"/>
          </a:solidFill>
          <a:ln/>
        </p:spPr>
      </p:sp>
      <p:pic>
        <p:nvPicPr>
          <p:cNvPr id="7" name="Image 1" descr="C:\Users\Usuario\AppData\Local\Temp\claude\C--Users-Usuario-Desktop-AIDA-PROJECT\a0957269-a27b-472d-9403-64cb0a8be545\scratchpad\pptx_project\icons\warning.png">    </p:cNvPr>
          <p:cNvPicPr>
            <a:picLocks noChangeAspect="1"/>
          </p:cNvPicPr>
          <p:nvPr/>
        </p:nvPicPr>
        <p:blipFill>
          <a:blip r:embed="rId2"/>
          <a:stretch>
            <a:fillRect/>
          </a:stretch>
        </p:blipFill>
        <p:spPr>
          <a:xfrm>
            <a:off x="868680" y="4187952"/>
            <a:ext cx="502920" cy="502920"/>
          </a:xfrm>
          <a:prstGeom prst="rect">
            <a:avLst/>
          </a:prstGeom>
        </p:spPr>
      </p:pic>
      <p:sp>
        <p:nvSpPr>
          <p:cNvPr id="8" name="Text 4"/>
          <p:cNvSpPr txBox="1"/>
          <p:nvPr/>
        </p:nvSpPr>
        <p:spPr>
          <a:xfrm>
            <a:off x="1508760" y="4160520"/>
            <a:ext cx="4114800" cy="320040"/>
          </a:xfrm>
          <a:prstGeom prst="rect">
            <a:avLst/>
          </a:prstGeom>
          <a:noFill/>
          <a:ln/>
        </p:spPr>
        <p:txBody>
          <a:bodyPr wrap="square" lIns="0" tIns="0" rIns="0" bIns="0" rtlCol="0" anchor="ctr"/>
          <a:lstStyle/>
          <a:p>
            <a:pPr indent="0" marL="0">
              <a:buNone/>
            </a:pPr>
            <a:r>
              <a:rPr lang="en-US" sz="1500" b="1" dirty="0">
                <a:solidFill>
                  <a:srgbClr val="FFC9B8"/>
                </a:solidFill>
                <a:latin typeface="Cambria" pitchFamily="34" charset="0"/>
                <a:ea typeface="Cambria" pitchFamily="34" charset="-122"/>
                <a:cs typeface="Cambria" pitchFamily="34" charset="-120"/>
              </a:rPr>
              <a:t>El dilema</a:t>
            </a:r>
            <a:endParaRPr lang="en-US" sz="1500" dirty="0"/>
          </a:p>
        </p:txBody>
      </p:sp>
      <p:sp>
        <p:nvSpPr>
          <p:cNvPr id="9" name="Text 5"/>
          <p:cNvSpPr txBox="1"/>
          <p:nvPr/>
        </p:nvSpPr>
        <p:spPr>
          <a:xfrm>
            <a:off x="1508760" y="4498848"/>
            <a:ext cx="4480560" cy="1188720"/>
          </a:xfrm>
          <a:prstGeom prst="rect">
            <a:avLst/>
          </a:prstGeom>
          <a:noFill/>
          <a:ln/>
        </p:spPr>
        <p:txBody>
          <a:bodyPr wrap="square" lIns="0" tIns="0" rIns="0" bIns="0" rtlCol="0" anchor="t"/>
          <a:lstStyle/>
          <a:p>
            <a:pPr indent="0" marL="0">
              <a:buNone/>
            </a:pPr>
            <a:r>
              <a:rPr lang="en-US" sz="1300" dirty="0">
                <a:solidFill>
                  <a:srgbClr val="E7EEF2"/>
                </a:solidFill>
                <a:latin typeface="Calibri" pitchFamily="34" charset="0"/>
                <a:ea typeface="Calibri" pitchFamily="34" charset="-122"/>
                <a:cs typeface="Calibri" pitchFamily="34" charset="-120"/>
              </a:rPr>
              <a:t>Vacunarte te protege a futuro, pero mientras haces fila estás mucho más cerca de otras personas de lo normal: si un infectado pasa cerca, el riesgo sube en ese instante.</a:t>
            </a:r>
            <a:endParaRPr lang="en-US" sz="1300" dirty="0"/>
          </a:p>
        </p:txBody>
      </p:sp>
      <p:sp>
        <p:nvSpPr>
          <p:cNvPr id="10" name="Shape 6"/>
          <p:cNvSpPr/>
          <p:nvPr/>
        </p:nvSpPr>
        <p:spPr>
          <a:xfrm>
            <a:off x="6675120" y="1691640"/>
            <a:ext cx="4846320" cy="4114800"/>
          </a:xfrm>
          <a:prstGeom prst="roundRect">
            <a:avLst>
              <a:gd name="adj" fmla="val 2667"/>
            </a:avLst>
          </a:prstGeom>
          <a:solidFill>
            <a:srgbClr val="FFFFFF"/>
          </a:solidFill>
          <a:ln w="12700">
            <a:solidFill>
              <a:srgbClr val="DCE6EB"/>
            </a:solidFill>
            <a:prstDash val="solid"/>
          </a:ln>
        </p:spPr>
      </p:sp>
      <p:sp>
        <p:nvSpPr>
          <p:cNvPr id="11" name="Text 7"/>
          <p:cNvSpPr txBox="1"/>
          <p:nvPr/>
        </p:nvSpPr>
        <p:spPr>
          <a:xfrm>
            <a:off x="6903720" y="1874520"/>
            <a:ext cx="4389120" cy="457200"/>
          </a:xfrm>
          <a:prstGeom prst="rect">
            <a:avLst/>
          </a:prstGeom>
          <a:noFill/>
          <a:ln/>
        </p:spPr>
        <p:txBody>
          <a:bodyPr wrap="square" lIns="0" tIns="0" rIns="0" bIns="0" rtlCol="0" anchor="ctr"/>
          <a:lstStyle/>
          <a:p>
            <a:pPr indent="0" marL="0">
              <a:buNone/>
            </a:pPr>
            <a:r>
              <a:rPr lang="en-US" sz="1250" b="1" dirty="0">
                <a:solidFill>
                  <a:srgbClr val="0B3D5C"/>
                </a:solidFill>
                <a:latin typeface="Calibri" pitchFamily="34" charset="0"/>
                <a:ea typeface="Calibri" pitchFamily="34" charset="-122"/>
                <a:cs typeface="Calibri" pitchFamily="34" charset="-120"/>
              </a:rPr>
              <a:t>Cada persona sana elige el centro más cercano</a:t>
            </a:r>
            <a:endParaRPr lang="en-US" sz="1250" dirty="0"/>
          </a:p>
        </p:txBody>
      </p:sp>
      <p:sp>
        <p:nvSpPr>
          <p:cNvPr id="12" name="Shape 8"/>
          <p:cNvSpPr/>
          <p:nvPr/>
        </p:nvSpPr>
        <p:spPr>
          <a:xfrm>
            <a:off x="7086600" y="2651760"/>
            <a:ext cx="274320" cy="274320"/>
          </a:xfrm>
          <a:prstGeom prst="ellipse">
            <a:avLst/>
          </a:prstGeom>
          <a:solidFill>
            <a:srgbClr val="1C7293"/>
          </a:solidFill>
          <a:ln/>
        </p:spPr>
      </p:sp>
      <p:sp>
        <p:nvSpPr>
          <p:cNvPr id="13" name="Shape 9"/>
          <p:cNvSpPr/>
          <p:nvPr/>
        </p:nvSpPr>
        <p:spPr>
          <a:xfrm>
            <a:off x="7470648" y="2651760"/>
            <a:ext cx="274320" cy="274320"/>
          </a:xfrm>
          <a:prstGeom prst="ellipse">
            <a:avLst/>
          </a:prstGeom>
          <a:solidFill>
            <a:srgbClr val="1C7293"/>
          </a:solidFill>
          <a:ln/>
        </p:spPr>
      </p:sp>
      <p:sp>
        <p:nvSpPr>
          <p:cNvPr id="14" name="Shape 10"/>
          <p:cNvSpPr/>
          <p:nvPr/>
        </p:nvSpPr>
        <p:spPr>
          <a:xfrm>
            <a:off x="7854696" y="2651760"/>
            <a:ext cx="274320" cy="274320"/>
          </a:xfrm>
          <a:prstGeom prst="ellipse">
            <a:avLst/>
          </a:prstGeom>
          <a:solidFill>
            <a:srgbClr val="1C7293"/>
          </a:solidFill>
          <a:ln/>
        </p:spPr>
      </p:sp>
      <p:sp>
        <p:nvSpPr>
          <p:cNvPr id="15" name="Shape 11"/>
          <p:cNvSpPr/>
          <p:nvPr/>
        </p:nvSpPr>
        <p:spPr>
          <a:xfrm>
            <a:off x="8238744" y="2651760"/>
            <a:ext cx="274320" cy="274320"/>
          </a:xfrm>
          <a:prstGeom prst="ellipse">
            <a:avLst/>
          </a:prstGeom>
          <a:solidFill>
            <a:srgbClr val="1C7293"/>
          </a:solidFill>
          <a:ln/>
        </p:spPr>
      </p:sp>
      <p:sp>
        <p:nvSpPr>
          <p:cNvPr id="16" name="Shape 12"/>
          <p:cNvSpPr/>
          <p:nvPr/>
        </p:nvSpPr>
        <p:spPr>
          <a:xfrm>
            <a:off x="8622792" y="2651760"/>
            <a:ext cx="274320" cy="274320"/>
          </a:xfrm>
          <a:prstGeom prst="ellipse">
            <a:avLst/>
          </a:prstGeom>
          <a:solidFill>
            <a:srgbClr val="1C7293"/>
          </a:solidFill>
          <a:ln/>
        </p:spPr>
      </p:sp>
      <p:sp>
        <p:nvSpPr>
          <p:cNvPr id="17" name="Shape 13"/>
          <p:cNvSpPr/>
          <p:nvPr/>
        </p:nvSpPr>
        <p:spPr>
          <a:xfrm>
            <a:off x="9006840" y="2651760"/>
            <a:ext cx="274320" cy="274320"/>
          </a:xfrm>
          <a:prstGeom prst="ellipse">
            <a:avLst/>
          </a:prstGeom>
          <a:solidFill>
            <a:srgbClr val="1C7293"/>
          </a:solidFill>
          <a:ln/>
        </p:spPr>
      </p:sp>
      <p:sp>
        <p:nvSpPr>
          <p:cNvPr id="18" name="Text 14"/>
          <p:cNvSpPr txBox="1"/>
          <p:nvPr/>
        </p:nvSpPr>
        <p:spPr>
          <a:xfrm>
            <a:off x="7086600" y="3017520"/>
            <a:ext cx="4206240" cy="274320"/>
          </a:xfrm>
          <a:prstGeom prst="rect">
            <a:avLst/>
          </a:prstGeom>
          <a:noFill/>
          <a:ln/>
        </p:spPr>
        <p:txBody>
          <a:bodyPr wrap="square" lIns="0" tIns="0" rIns="0" bIns="0" rtlCol="0" anchor="ctr"/>
          <a:lstStyle/>
          <a:p>
            <a:pPr indent="0" marL="0">
              <a:buNone/>
            </a:pPr>
            <a:r>
              <a:rPr lang="en-US" sz="1050" dirty="0">
                <a:solidFill>
                  <a:srgbClr val="5C7A8A"/>
                </a:solidFill>
                <a:latin typeface="Calibri" pitchFamily="34" charset="0"/>
                <a:ea typeface="Calibri" pitchFamily="34" charset="-122"/>
                <a:cs typeface="Calibri" pitchFamily="34" charset="-120"/>
              </a:rPr>
              <a:t>Fila en el centro (capacidad limitada / día)</a:t>
            </a:r>
            <a:endParaRPr lang="en-US" sz="1050" dirty="0"/>
          </a:p>
        </p:txBody>
      </p:sp>
      <p:pic>
        <p:nvPicPr>
          <p:cNvPr id="19" name="Image 2" descr="C:\Users\Usuario\AppData\Local\Temp\claude\C--Users-Usuario-Desktop-AIDA-PROJECT\a0957269-a27b-472d-9403-64cb0a8be545\scratchpad\pptx_project\icons\users.png">    </p:cNvPr>
          <p:cNvPicPr>
            <a:picLocks noChangeAspect="1"/>
          </p:cNvPicPr>
          <p:nvPr/>
        </p:nvPicPr>
        <p:blipFill>
          <a:blip r:embed="rId3"/>
          <a:stretch>
            <a:fillRect/>
          </a:stretch>
        </p:blipFill>
        <p:spPr>
          <a:xfrm>
            <a:off x="9528048" y="2578608"/>
            <a:ext cx="411480" cy="411480"/>
          </a:xfrm>
          <a:prstGeom prst="rect">
            <a:avLst/>
          </a:prstGeom>
        </p:spPr>
      </p:pic>
      <p:sp>
        <p:nvSpPr>
          <p:cNvPr id="20" name="Shape 15"/>
          <p:cNvSpPr/>
          <p:nvPr/>
        </p:nvSpPr>
        <p:spPr>
          <a:xfrm>
            <a:off x="7086600" y="3520440"/>
            <a:ext cx="1828800" cy="502920"/>
          </a:xfrm>
          <a:prstGeom prst="roundRect">
            <a:avLst>
              <a:gd name="adj" fmla="val 14545"/>
            </a:avLst>
          </a:prstGeom>
          <a:solidFill>
            <a:srgbClr val="E4572E"/>
          </a:solidFill>
          <a:ln/>
        </p:spPr>
      </p:sp>
      <p:sp>
        <p:nvSpPr>
          <p:cNvPr id="21" name="Text 16"/>
          <p:cNvSpPr txBox="1"/>
          <p:nvPr/>
        </p:nvSpPr>
        <p:spPr>
          <a:xfrm>
            <a:off x="7178040" y="3520440"/>
            <a:ext cx="1737360" cy="5029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riesgo de contagio en la fila</a:t>
            </a:r>
            <a:endParaRPr lang="en-US" sz="1050" dirty="0"/>
          </a:p>
        </p:txBody>
      </p:sp>
      <p:sp>
        <p:nvSpPr>
          <p:cNvPr id="22" name="Shape 17"/>
          <p:cNvSpPr/>
          <p:nvPr/>
        </p:nvSpPr>
        <p:spPr>
          <a:xfrm>
            <a:off x="9189720" y="3520440"/>
            <a:ext cx="2103120" cy="502920"/>
          </a:xfrm>
          <a:prstGeom prst="roundRect">
            <a:avLst>
              <a:gd name="adj" fmla="val 14545"/>
            </a:avLst>
          </a:prstGeom>
          <a:solidFill>
            <a:srgbClr val="06A77D"/>
          </a:solidFill>
          <a:ln/>
        </p:spPr>
      </p:sp>
      <p:sp>
        <p:nvSpPr>
          <p:cNvPr id="23" name="Text 18"/>
          <p:cNvSpPr txBox="1"/>
          <p:nvPr/>
        </p:nvSpPr>
        <p:spPr>
          <a:xfrm>
            <a:off x="9281160" y="3520440"/>
            <a:ext cx="1965960" cy="5029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Vacunado = protección futura</a:t>
            </a:r>
            <a:endParaRPr lang="en-US" sz="1000" dirty="0"/>
          </a:p>
        </p:txBody>
      </p:sp>
      <p:sp>
        <p:nvSpPr>
          <p:cNvPr id="24" name="Text 19"/>
          <p:cNvSpPr txBox="1"/>
          <p:nvPr/>
        </p:nvSpPr>
        <p:spPr>
          <a:xfrm>
            <a:off x="6903720" y="4251960"/>
            <a:ext cx="4434840" cy="1371600"/>
          </a:xfrm>
          <a:prstGeom prst="rect">
            <a:avLst/>
          </a:prstGeom>
          <a:noFill/>
          <a:ln/>
        </p:spPr>
        <p:txBody>
          <a:bodyPr wrap="square" lIns="0" tIns="0" rIns="0" bIns="0" rtlCol="0" anchor="t"/>
          <a:lstStyle/>
          <a:p>
            <a:pPr indent="0" marL="0">
              <a:buNone/>
            </a:pPr>
            <a:r>
              <a:rPr lang="en-US" sz="1100" i="1" dirty="0">
                <a:solidFill>
                  <a:srgbClr val="5C7A8A"/>
                </a:solidFill>
                <a:latin typeface="Calibri" pitchFamily="34" charset="0"/>
                <a:ea typeface="Calibri" pitchFamily="34" charset="-122"/>
                <a:cs typeface="Calibri" pitchFamily="34" charset="-120"/>
              </a:rPr>
              <a:t>Parámetros: N.º de centros · capacidad/día · efectividad de la vacuna · retardo de inmunidad</a:t>
            </a:r>
            <a:endParaRPr lang="en-US" sz="1100" dirty="0"/>
          </a:p>
        </p:txBody>
      </p:sp>
      <p:sp>
        <p:nvSpPr>
          <p:cNvPr id="25" name="Text 20"/>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50" dirty="0">
                <a:solidFill>
                  <a:srgbClr val="5C7A8A"/>
                </a:solidFill>
                <a:latin typeface="Calibri" pitchFamily="34" charset="0"/>
                <a:ea typeface="Calibri" pitchFamily="34" charset="-122"/>
                <a:cs typeface="Calibri" pitchFamily="34" charset="-120"/>
              </a:rPr>
              <a:t>Simulación de epidemia — Centros de vacunación</a:t>
            </a:r>
            <a:endParaRPr lang="en-US" sz="950" dirty="0"/>
          </a:p>
        </p:txBody>
      </p:sp>
      <p:sp>
        <p:nvSpPr>
          <p:cNvPr id="26" name="Text 21"/>
          <p:cNvSpPr txBox="1"/>
          <p:nvPr/>
        </p:nvSpPr>
        <p:spPr>
          <a:xfrm>
            <a:off x="11185855" y="6510528"/>
            <a:ext cx="457200" cy="274320"/>
          </a:xfrm>
          <a:prstGeom prst="rect">
            <a:avLst/>
          </a:prstGeom>
          <a:noFill/>
          <a:ln/>
        </p:spPr>
        <p:txBody>
          <a:bodyPr wrap="square" lIns="0" tIns="0" rIns="0" bIns="0" rtlCol="0" anchor="ctr"/>
          <a:lstStyle/>
          <a:p>
            <a:pPr algn="r" indent="0" marL="0">
              <a:buNone/>
            </a:pPr>
            <a:r>
              <a:rPr lang="en-US" sz="950" dirty="0">
                <a:solidFill>
                  <a:srgbClr val="5C7A8A"/>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p:bgPr>
    </p:bg>
    <p:spTree>
      <p:nvGrpSpPr>
        <p:cNvPr id="1" name=""/>
        <p:cNvGrpSpPr/>
        <p:nvPr/>
      </p:nvGrpSpPr>
      <p:grpSpPr>
        <a:xfrm>
          <a:off x="0" y="0"/>
          <a:ext cx="0" cy="0"/>
          <a:chOff x="0" y="0"/>
          <a:chExt cx="0" cy="0"/>
        </a:xfrm>
      </p:grpSpPr>
      <p:pic>
        <p:nvPicPr>
          <p:cNvPr id="2" name="Image 0" descr="C:\Users\Usuario\AppData\Local\Temp\claude\C--Users-Usuario-Desktop-AIDA-PROJECT\a0957269-a27b-472d-9403-64cb0a8be545\scratchpad\pptx_project\icons\calc.png">    </p:cNvPr>
          <p:cNvPicPr>
            <a:picLocks noChangeAspect="1"/>
          </p:cNvPicPr>
          <p:nvPr/>
        </p:nvPicPr>
        <p:blipFill>
          <a:blip r:embed="rId1"/>
          <a:stretch>
            <a:fillRect/>
          </a:stretch>
        </p:blipFill>
        <p:spPr>
          <a:xfrm>
            <a:off x="548640" y="502920"/>
            <a:ext cx="566928" cy="566928"/>
          </a:xfrm>
          <a:prstGeom prst="rect">
            <a:avLst/>
          </a:prstGeom>
        </p:spPr>
      </p:pic>
      <p:sp>
        <p:nvSpPr>
          <p:cNvPr id="3" name="Text 0"/>
          <p:cNvSpPr txBox="1"/>
          <p:nvPr/>
        </p:nvSpPr>
        <p:spPr>
          <a:xfrm>
            <a:off x="1280160" y="457200"/>
            <a:ext cx="7315200" cy="292608"/>
          </a:xfrm>
          <a:prstGeom prst="rect">
            <a:avLst/>
          </a:prstGeom>
          <a:noFill/>
          <a:ln/>
        </p:spPr>
        <p:txBody>
          <a:bodyPr wrap="square" lIns="0" tIns="0" rIns="0" bIns="0" rtlCol="0" anchor="ctr"/>
          <a:lstStyle/>
          <a:p>
            <a:pPr indent="0" marL="0">
              <a:buNone/>
            </a:pPr>
            <a:r>
              <a:rPr lang="en-US" sz="1250" b="1" spc="150" kern="0" dirty="0">
                <a:solidFill>
                  <a:srgbClr val="0B3D5C"/>
                </a:solidFill>
                <a:latin typeface="Calibri" pitchFamily="34" charset="0"/>
                <a:ea typeface="Calibri" pitchFamily="34" charset="-122"/>
                <a:cs typeface="Calibri" pitchFamily="34" charset="-120"/>
              </a:rPr>
              <a:t>MODELO MATEMÁTICO</a:t>
            </a:r>
            <a:endParaRPr lang="en-US" sz="1250" dirty="0"/>
          </a:p>
        </p:txBody>
      </p:sp>
      <p:sp>
        <p:nvSpPr>
          <p:cNvPr id="4" name="Text 1"/>
          <p:cNvSpPr txBox="1"/>
          <p:nvPr/>
        </p:nvSpPr>
        <p:spPr>
          <a:xfrm>
            <a:off x="1280160" y="713232"/>
            <a:ext cx="9601200" cy="566928"/>
          </a:xfrm>
          <a:prstGeom prst="rect">
            <a:avLst/>
          </a:prstGeom>
          <a:noFill/>
          <a:ln/>
        </p:spPr>
        <p:txBody>
          <a:bodyPr wrap="square" lIns="0" tIns="0" rIns="0" bIns="0" rtlCol="0" anchor="ctr"/>
          <a:lstStyle/>
          <a:p>
            <a:pPr indent="0" marL="0">
              <a:buNone/>
            </a:pPr>
            <a:r>
              <a:rPr lang="en-US" sz="3000" b="1" dirty="0">
                <a:solidFill>
                  <a:srgbClr val="0B3D5C"/>
                </a:solidFill>
                <a:latin typeface="Cambria" pitchFamily="34" charset="0"/>
                <a:ea typeface="Cambria" pitchFamily="34" charset="-122"/>
                <a:cs typeface="Cambria" pitchFamily="34" charset="-120"/>
              </a:rPr>
              <a:t>Del SIR continuo a reglas por agente</a:t>
            </a:r>
            <a:endParaRPr lang="en-US" sz="3000" dirty="0"/>
          </a:p>
        </p:txBody>
      </p:sp>
      <p:sp>
        <p:nvSpPr>
          <p:cNvPr id="5" name="Shape 2"/>
          <p:cNvSpPr/>
          <p:nvPr/>
        </p:nvSpPr>
        <p:spPr>
          <a:xfrm>
            <a:off x="640080" y="1645920"/>
            <a:ext cx="5212080" cy="2148840"/>
          </a:xfrm>
          <a:prstGeom prst="roundRect">
            <a:avLst>
              <a:gd name="adj" fmla="val 4255"/>
            </a:avLst>
          </a:prstGeom>
          <a:solidFill>
            <a:srgbClr val="0B3D5C"/>
          </a:solidFill>
          <a:ln/>
        </p:spPr>
      </p:sp>
      <p:sp>
        <p:nvSpPr>
          <p:cNvPr id="6" name="Text 3"/>
          <p:cNvSpPr txBox="1"/>
          <p:nvPr/>
        </p:nvSpPr>
        <p:spPr>
          <a:xfrm>
            <a:off x="868680" y="1783080"/>
            <a:ext cx="4754880" cy="320040"/>
          </a:xfrm>
          <a:prstGeom prst="rect">
            <a:avLst/>
          </a:prstGeom>
          <a:noFill/>
          <a:ln/>
        </p:spPr>
        <p:txBody>
          <a:bodyPr wrap="square" lIns="0" tIns="0" rIns="0" bIns="0" rtlCol="0" anchor="ctr"/>
          <a:lstStyle/>
          <a:p>
            <a:pPr indent="0" marL="0">
              <a:buNone/>
            </a:pPr>
            <a:r>
              <a:rPr lang="en-US" sz="1250" b="1" dirty="0">
                <a:solidFill>
                  <a:srgbClr val="8FD3E8"/>
                </a:solidFill>
                <a:latin typeface="Calibri" pitchFamily="34" charset="0"/>
                <a:ea typeface="Calibri" pitchFamily="34" charset="-122"/>
                <a:cs typeface="Calibri" pitchFamily="34" charset="-120"/>
              </a:rPr>
              <a:t>Base teórica (SIR clásico)</a:t>
            </a:r>
            <a:endParaRPr lang="en-US" sz="1250" dirty="0"/>
          </a:p>
        </p:txBody>
      </p:sp>
      <p:sp>
        <p:nvSpPr>
          <p:cNvPr id="7" name="Text 4"/>
          <p:cNvSpPr txBox="1"/>
          <p:nvPr/>
        </p:nvSpPr>
        <p:spPr>
          <a:xfrm>
            <a:off x="868680" y="2148840"/>
            <a:ext cx="4846320" cy="1097280"/>
          </a:xfrm>
          <a:prstGeom prst="rect">
            <a:avLst/>
          </a:prstGeom>
          <a:noFill/>
          <a:ln/>
        </p:spPr>
        <p:txBody>
          <a:bodyPr wrap="square" lIns="0" tIns="0" rIns="0" bIns="0" rtlCol="0" anchor="ctr"/>
          <a:lstStyle/>
          <a:p>
            <a:pPr indent="0" marL="0">
              <a:spcAft>
                <a:spcPts val="800"/>
              </a:spcAft>
              <a:buNone/>
            </a:pPr>
            <a:r>
              <a:rPr lang="en-US" sz="1800" b="1" dirty="0">
                <a:solidFill>
                  <a:srgbClr val="FFFFFF"/>
                </a:solidFill>
                <a:latin typeface="Courier New" pitchFamily="34" charset="0"/>
                <a:ea typeface="Courier New" pitchFamily="34" charset="-122"/>
                <a:cs typeface="Courier New" pitchFamily="34" charset="-120"/>
              </a:rPr>
              <a:t>dS/dt = -β·S·I / N</a:t>
            </a:r>
            <a:endParaRPr lang="en-US" sz="1800" dirty="0"/>
          </a:p>
          <a:p>
            <a:pPr indent="0" marL="0">
              <a:spcAft>
                <a:spcPts val="800"/>
              </a:spcAft>
              <a:buNone/>
            </a:pPr>
            <a:r>
              <a:rPr lang="en-US" sz="1800" b="1" dirty="0">
                <a:solidFill>
                  <a:srgbClr val="FFFFFF"/>
                </a:solidFill>
                <a:latin typeface="Courier New" pitchFamily="34" charset="0"/>
                <a:ea typeface="Courier New" pitchFamily="34" charset="-122"/>
                <a:cs typeface="Courier New" pitchFamily="34" charset="-120"/>
              </a:rPr>
              <a:t>dI/dt =  β·S·I / N  -  γ·I</a:t>
            </a:r>
            <a:endParaRPr lang="en-US" sz="1800" dirty="0"/>
          </a:p>
          <a:p>
            <a:pPr indent="0" marL="0">
              <a:spcAft>
                <a:spcPts val="800"/>
              </a:spcAft>
              <a:buNone/>
            </a:pPr>
            <a:r>
              <a:rPr lang="en-US" sz="1800" b="1" dirty="0">
                <a:solidFill>
                  <a:srgbClr val="FFFFFF"/>
                </a:solidFill>
                <a:latin typeface="Courier New" pitchFamily="34" charset="0"/>
                <a:ea typeface="Courier New" pitchFamily="34" charset="-122"/>
                <a:cs typeface="Courier New" pitchFamily="34" charset="-120"/>
              </a:rPr>
              <a:t>dR/dt =  γ·I</a:t>
            </a:r>
            <a:endParaRPr lang="en-US" sz="1800" dirty="0"/>
          </a:p>
        </p:txBody>
      </p:sp>
      <p:sp>
        <p:nvSpPr>
          <p:cNvPr id="8" name="Text 5"/>
          <p:cNvSpPr txBox="1"/>
          <p:nvPr/>
        </p:nvSpPr>
        <p:spPr>
          <a:xfrm>
            <a:off x="868680" y="3337560"/>
            <a:ext cx="4846320" cy="365760"/>
          </a:xfrm>
          <a:prstGeom prst="rect">
            <a:avLst/>
          </a:prstGeom>
          <a:noFill/>
          <a:ln/>
        </p:spPr>
        <p:txBody>
          <a:bodyPr wrap="square" lIns="0" tIns="0" rIns="0" bIns="0" rtlCol="0" anchor="ctr"/>
          <a:lstStyle/>
          <a:p>
            <a:pPr indent="0" marL="0">
              <a:buNone/>
            </a:pPr>
            <a:r>
              <a:rPr lang="en-US" sz="1100" i="1" dirty="0">
                <a:solidFill>
                  <a:srgbClr val="B9D3DE"/>
                </a:solidFill>
                <a:latin typeface="Calibri" pitchFamily="34" charset="0"/>
                <a:ea typeface="Calibri" pitchFamily="34" charset="-122"/>
                <a:cs typeface="Calibri" pitchFamily="34" charset="-120"/>
              </a:rPr>
              <a:t>β: tasa de contagio      γ: tasa de recuperación</a:t>
            </a:r>
            <a:endParaRPr lang="en-US" sz="1100" dirty="0"/>
          </a:p>
        </p:txBody>
      </p:sp>
      <p:sp>
        <p:nvSpPr>
          <p:cNvPr id="9" name="Text 6"/>
          <p:cNvSpPr txBox="1"/>
          <p:nvPr/>
        </p:nvSpPr>
        <p:spPr>
          <a:xfrm>
            <a:off x="640080" y="3977640"/>
            <a:ext cx="5212080" cy="1371600"/>
          </a:xfrm>
          <a:prstGeom prst="rect">
            <a:avLst/>
          </a:prstGeom>
          <a:noFill/>
          <a:ln/>
        </p:spPr>
        <p:txBody>
          <a:bodyPr wrap="square" lIns="0" tIns="0" rIns="0" bIns="0" rtlCol="0" anchor="t"/>
          <a:lstStyle/>
          <a:p>
            <a:pPr indent="0" marL="0">
              <a:buNone/>
            </a:pPr>
            <a:r>
              <a:rPr lang="en-US" sz="1350" i="1" dirty="0">
                <a:solidFill>
                  <a:srgbClr val="1B2A33"/>
                </a:solidFill>
                <a:latin typeface="Calibri" pitchFamily="34" charset="0"/>
                <a:ea typeface="Calibri" pitchFamily="34" charset="-122"/>
                <a:cs typeface="Calibri" pitchFamily="34" charset="-120"/>
              </a:rPr>
              <a:t>El proyecto no resuelve estas ecuaciones de forma continua: las convierte en reglas discretas, estocásticas y espaciales, ejecutadas persona por persona, día a día.</a:t>
            </a:r>
            <a:endParaRPr lang="en-US" sz="1350" dirty="0"/>
          </a:p>
        </p:txBody>
      </p:sp>
      <p:sp>
        <p:nvSpPr>
          <p:cNvPr id="10" name="Shape 7"/>
          <p:cNvSpPr/>
          <p:nvPr/>
        </p:nvSpPr>
        <p:spPr>
          <a:xfrm>
            <a:off x="6172200" y="1645920"/>
            <a:ext cx="5349240" cy="4206240"/>
          </a:xfrm>
          <a:prstGeom prst="roundRect">
            <a:avLst>
              <a:gd name="adj" fmla="val 2609"/>
            </a:avLst>
          </a:prstGeom>
          <a:solidFill>
            <a:srgbClr val="FFFFFF"/>
          </a:solidFill>
          <a:ln w="12700">
            <a:solidFill>
              <a:srgbClr val="DCE6EB"/>
            </a:solidFill>
            <a:prstDash val="solid"/>
          </a:ln>
        </p:spPr>
      </p:sp>
      <p:sp>
        <p:nvSpPr>
          <p:cNvPr id="11" name="Text 8"/>
          <p:cNvSpPr txBox="1"/>
          <p:nvPr/>
        </p:nvSpPr>
        <p:spPr>
          <a:xfrm>
            <a:off x="6400800" y="1810512"/>
            <a:ext cx="4846320" cy="320040"/>
          </a:xfrm>
          <a:prstGeom prst="rect">
            <a:avLst/>
          </a:prstGeom>
          <a:noFill/>
          <a:ln/>
        </p:spPr>
        <p:txBody>
          <a:bodyPr wrap="square" lIns="0" tIns="0" rIns="0" bIns="0" rtlCol="0" anchor="ctr"/>
          <a:lstStyle/>
          <a:p>
            <a:pPr indent="0" marL="0">
              <a:buNone/>
            </a:pPr>
            <a:r>
              <a:rPr lang="en-US" sz="1300" b="1" dirty="0">
                <a:solidFill>
                  <a:srgbClr val="0B3D5C"/>
                </a:solidFill>
                <a:latin typeface="Calibri" pitchFamily="34" charset="0"/>
                <a:ea typeface="Calibri" pitchFamily="34" charset="-122"/>
                <a:cs typeface="Calibri" pitchFamily="34" charset="-120"/>
              </a:rPr>
              <a:t>Implementación en el código</a:t>
            </a:r>
            <a:endParaRPr lang="en-US" sz="1300" dirty="0"/>
          </a:p>
        </p:txBody>
      </p:sp>
      <p:sp>
        <p:nvSpPr>
          <p:cNvPr id="12" name="Shape 9"/>
          <p:cNvSpPr/>
          <p:nvPr/>
        </p:nvSpPr>
        <p:spPr>
          <a:xfrm>
            <a:off x="6400800" y="2286000"/>
            <a:ext cx="1508760" cy="594360"/>
          </a:xfrm>
          <a:prstGeom prst="roundRect">
            <a:avLst>
              <a:gd name="adj" fmla="val 12308"/>
            </a:avLst>
          </a:prstGeom>
          <a:solidFill>
            <a:srgbClr val="E4572E"/>
          </a:solidFill>
          <a:ln/>
        </p:spPr>
      </p:sp>
      <p:sp>
        <p:nvSpPr>
          <p:cNvPr id="13" name="Text 10"/>
          <p:cNvSpPr txBox="1"/>
          <p:nvPr/>
        </p:nvSpPr>
        <p:spPr>
          <a:xfrm>
            <a:off x="6446520" y="2286000"/>
            <a:ext cx="1417320" cy="5943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β  (contagio)</a:t>
            </a:r>
            <a:endParaRPr lang="en-US" sz="1150" dirty="0"/>
          </a:p>
        </p:txBody>
      </p:sp>
      <p:sp>
        <p:nvSpPr>
          <p:cNvPr id="14" name="Text 11"/>
          <p:cNvSpPr txBox="1"/>
          <p:nvPr/>
        </p:nvSpPr>
        <p:spPr>
          <a:xfrm>
            <a:off x="8092440" y="2258568"/>
            <a:ext cx="3246120" cy="685800"/>
          </a:xfrm>
          <a:prstGeom prst="rect">
            <a:avLst/>
          </a:prstGeom>
          <a:noFill/>
          <a:ln/>
        </p:spPr>
        <p:txBody>
          <a:bodyPr wrap="square" lIns="0" tIns="0" rIns="0" bIns="0" rtlCol="0" anchor="ctr"/>
          <a:lstStyle/>
          <a:p>
            <a:pPr indent="0" marL="0">
              <a:buNone/>
            </a:pPr>
            <a:r>
              <a:rPr lang="en-US" sz="1150" dirty="0">
                <a:solidFill>
                  <a:srgbClr val="1B2A33"/>
                </a:solidFill>
                <a:latin typeface="Calibri" pitchFamily="34" charset="0"/>
                <a:ea typeface="Calibri" pitchFamily="34" charset="-122"/>
                <a:cs typeface="Calibri" pitchFamily="34" charset="-120"/>
              </a:rPr>
              <a:t>Si distancia(infectado, sano) &lt; radio y aleatorio &lt; p_contagio → nuevo infectado</a:t>
            </a:r>
            <a:endParaRPr lang="en-US" sz="1150" dirty="0"/>
          </a:p>
        </p:txBody>
      </p:sp>
      <p:sp>
        <p:nvSpPr>
          <p:cNvPr id="15" name="Shape 12"/>
          <p:cNvSpPr/>
          <p:nvPr/>
        </p:nvSpPr>
        <p:spPr>
          <a:xfrm>
            <a:off x="6400800" y="3154680"/>
            <a:ext cx="1508760" cy="594360"/>
          </a:xfrm>
          <a:prstGeom prst="roundRect">
            <a:avLst>
              <a:gd name="adj" fmla="val 12308"/>
            </a:avLst>
          </a:prstGeom>
          <a:solidFill>
            <a:srgbClr val="1C7293"/>
          </a:solidFill>
          <a:ln/>
        </p:spPr>
      </p:sp>
      <p:sp>
        <p:nvSpPr>
          <p:cNvPr id="16" name="Text 13"/>
          <p:cNvSpPr txBox="1"/>
          <p:nvPr/>
        </p:nvSpPr>
        <p:spPr>
          <a:xfrm>
            <a:off x="6446520" y="3154680"/>
            <a:ext cx="1417320" cy="5943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γ  (recuperación)</a:t>
            </a:r>
            <a:endParaRPr lang="en-US" sz="1150" dirty="0"/>
          </a:p>
        </p:txBody>
      </p:sp>
      <p:sp>
        <p:nvSpPr>
          <p:cNvPr id="17" name="Text 14"/>
          <p:cNvSpPr txBox="1"/>
          <p:nvPr/>
        </p:nvSpPr>
        <p:spPr>
          <a:xfrm>
            <a:off x="8092440" y="3127248"/>
            <a:ext cx="3246120" cy="685800"/>
          </a:xfrm>
          <a:prstGeom prst="rect">
            <a:avLst/>
          </a:prstGeom>
          <a:noFill/>
          <a:ln/>
        </p:spPr>
        <p:txBody>
          <a:bodyPr wrap="square" lIns="0" tIns="0" rIns="0" bIns="0" rtlCol="0" anchor="ctr"/>
          <a:lstStyle/>
          <a:p>
            <a:pPr indent="0" marL="0">
              <a:buNone/>
            </a:pPr>
            <a:r>
              <a:rPr lang="en-US" sz="1150" dirty="0">
                <a:solidFill>
                  <a:srgbClr val="1B2A33"/>
                </a:solidFill>
                <a:latin typeface="Calibri" pitchFamily="34" charset="0"/>
                <a:ea typeface="Calibri" pitchFamily="34" charset="-122"/>
                <a:cs typeface="Calibri" pitchFamily="34" charset="-120"/>
              </a:rPr>
              <a:t>Tras "duración_infección" días → recuperado, o muerto según % mortalidad</a:t>
            </a:r>
            <a:endParaRPr lang="en-US" sz="1150" dirty="0"/>
          </a:p>
        </p:txBody>
      </p:sp>
      <p:sp>
        <p:nvSpPr>
          <p:cNvPr id="18" name="Shape 15"/>
          <p:cNvSpPr/>
          <p:nvPr/>
        </p:nvSpPr>
        <p:spPr>
          <a:xfrm>
            <a:off x="6400800" y="4023360"/>
            <a:ext cx="1508760" cy="594360"/>
          </a:xfrm>
          <a:prstGeom prst="roundRect">
            <a:avLst>
              <a:gd name="adj" fmla="val 12308"/>
            </a:avLst>
          </a:prstGeom>
          <a:solidFill>
            <a:srgbClr val="06A77D"/>
          </a:solidFill>
          <a:ln/>
        </p:spPr>
      </p:sp>
      <p:sp>
        <p:nvSpPr>
          <p:cNvPr id="19" name="Text 16"/>
          <p:cNvSpPr txBox="1"/>
          <p:nvPr/>
        </p:nvSpPr>
        <p:spPr>
          <a:xfrm>
            <a:off x="6446520" y="4023360"/>
            <a:ext cx="1417320" cy="5943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Extensión propia</a:t>
            </a:r>
            <a:endParaRPr lang="en-US" sz="1150" dirty="0"/>
          </a:p>
        </p:txBody>
      </p:sp>
      <p:sp>
        <p:nvSpPr>
          <p:cNvPr id="20" name="Text 17"/>
          <p:cNvSpPr txBox="1"/>
          <p:nvPr/>
        </p:nvSpPr>
        <p:spPr>
          <a:xfrm>
            <a:off x="8092440" y="3995928"/>
            <a:ext cx="3246120" cy="685800"/>
          </a:xfrm>
          <a:prstGeom prst="rect">
            <a:avLst/>
          </a:prstGeom>
          <a:noFill/>
          <a:ln/>
        </p:spPr>
        <p:txBody>
          <a:bodyPr wrap="square" lIns="0" tIns="0" rIns="0" bIns="0" rtlCol="0" anchor="ctr"/>
          <a:lstStyle/>
          <a:p>
            <a:pPr indent="0" marL="0">
              <a:buNone/>
            </a:pPr>
            <a:r>
              <a:rPr lang="en-US" sz="1150" dirty="0">
                <a:solidFill>
                  <a:srgbClr val="1B2A33"/>
                </a:solidFill>
                <a:latin typeface="Calibri" pitchFamily="34" charset="0"/>
                <a:ea typeface="Calibri" pitchFamily="34" charset="-122"/>
                <a:cs typeface="Calibri" pitchFamily="34" charset="-120"/>
              </a:rPr>
              <a:t>Nuevos estados: Vacunado y En fila, con efectividad % y retardo de inmunidad</a:t>
            </a:r>
            <a:endParaRPr lang="en-US" sz="1150" dirty="0"/>
          </a:p>
        </p:txBody>
      </p:sp>
      <p:sp>
        <p:nvSpPr>
          <p:cNvPr id="21" name="Text 18"/>
          <p:cNvSpPr txBox="1"/>
          <p:nvPr/>
        </p:nvSpPr>
        <p:spPr>
          <a:xfrm>
            <a:off x="6400800" y="4937760"/>
            <a:ext cx="4892040" cy="914400"/>
          </a:xfrm>
          <a:prstGeom prst="rect">
            <a:avLst/>
          </a:prstGeom>
          <a:noFill/>
          <a:ln/>
        </p:spPr>
        <p:txBody>
          <a:bodyPr wrap="square" lIns="0" tIns="0" rIns="0" bIns="0" rtlCol="0" anchor="t"/>
          <a:lstStyle/>
          <a:p>
            <a:pPr indent="0" marL="0">
              <a:buNone/>
            </a:pPr>
            <a:r>
              <a:rPr lang="en-US" sz="1150" i="1" dirty="0">
                <a:solidFill>
                  <a:srgbClr val="5C7A8A"/>
                </a:solidFill>
                <a:latin typeface="Calibri" pitchFamily="34" charset="0"/>
                <a:ea typeface="Calibri" pitchFamily="34" charset="-122"/>
                <a:cs typeface="Calibri" pitchFamily="34" charset="-120"/>
              </a:rPr>
              <a:t>Resultado: un SIR estocástico y espacial, extendido a SIRV (+ cola de espera) para representar la vacunación con capacidad limitada.</a:t>
            </a:r>
            <a:endParaRPr lang="en-US" sz="1150" dirty="0"/>
          </a:p>
        </p:txBody>
      </p:sp>
      <p:sp>
        <p:nvSpPr>
          <p:cNvPr id="22" name="Text 19"/>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50" dirty="0">
                <a:solidFill>
                  <a:srgbClr val="5C7A8A"/>
                </a:solidFill>
                <a:latin typeface="Calibri" pitchFamily="34" charset="0"/>
                <a:ea typeface="Calibri" pitchFamily="34" charset="-122"/>
                <a:cs typeface="Calibri" pitchFamily="34" charset="-120"/>
              </a:rPr>
              <a:t>Simulación de epidemia — Centros de vacunación</a:t>
            </a:r>
            <a:endParaRPr lang="en-US" sz="950" dirty="0"/>
          </a:p>
        </p:txBody>
      </p:sp>
      <p:sp>
        <p:nvSpPr>
          <p:cNvPr id="23" name="Text 20"/>
          <p:cNvSpPr txBox="1"/>
          <p:nvPr/>
        </p:nvSpPr>
        <p:spPr>
          <a:xfrm>
            <a:off x="11185855" y="6510528"/>
            <a:ext cx="457200" cy="274320"/>
          </a:xfrm>
          <a:prstGeom prst="rect">
            <a:avLst/>
          </a:prstGeom>
          <a:noFill/>
          <a:ln/>
        </p:spPr>
        <p:txBody>
          <a:bodyPr wrap="square" lIns="0" tIns="0" rIns="0" bIns="0" rtlCol="0" anchor="ctr"/>
          <a:lstStyle/>
          <a:p>
            <a:pPr algn="r" indent="0" marL="0">
              <a:buNone/>
            </a:pPr>
            <a:r>
              <a:rPr lang="en-US" sz="950" dirty="0">
                <a:solidFill>
                  <a:srgbClr val="5C7A8A"/>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p:bgPr>
    </p:bg>
    <p:spTree>
      <p:nvGrpSpPr>
        <p:cNvPr id="1" name=""/>
        <p:cNvGrpSpPr/>
        <p:nvPr/>
      </p:nvGrpSpPr>
      <p:grpSpPr>
        <a:xfrm>
          <a:off x="0" y="0"/>
          <a:ext cx="0" cy="0"/>
          <a:chOff x="0" y="0"/>
          <a:chExt cx="0" cy="0"/>
        </a:xfrm>
      </p:grpSpPr>
      <p:pic>
        <p:nvPicPr>
          <p:cNvPr id="2" name="Image 0" descr="C:\Users\Usuario\AppData\Local\Temp\claude\C--Users-Usuario-Desktop-AIDA-PROJECT\a0957269-a27b-472d-9403-64cb0a8be545\scratchpad\pptx_project\icons\desktop.png">    </p:cNvPr>
          <p:cNvPicPr>
            <a:picLocks noChangeAspect="1"/>
          </p:cNvPicPr>
          <p:nvPr/>
        </p:nvPicPr>
        <p:blipFill>
          <a:blip r:embed="rId1"/>
          <a:stretch>
            <a:fillRect/>
          </a:stretch>
        </p:blipFill>
        <p:spPr>
          <a:xfrm>
            <a:off x="548640" y="502920"/>
            <a:ext cx="566928" cy="566928"/>
          </a:xfrm>
          <a:prstGeom prst="rect">
            <a:avLst/>
          </a:prstGeom>
        </p:spPr>
      </p:pic>
      <p:sp>
        <p:nvSpPr>
          <p:cNvPr id="3" name="Text 0"/>
          <p:cNvSpPr txBox="1"/>
          <p:nvPr/>
        </p:nvSpPr>
        <p:spPr>
          <a:xfrm>
            <a:off x="1280160" y="457200"/>
            <a:ext cx="7315200" cy="292608"/>
          </a:xfrm>
          <a:prstGeom prst="rect">
            <a:avLst/>
          </a:prstGeom>
          <a:noFill/>
          <a:ln/>
        </p:spPr>
        <p:txBody>
          <a:bodyPr wrap="square" lIns="0" tIns="0" rIns="0" bIns="0" rtlCol="0" anchor="ctr"/>
          <a:lstStyle/>
          <a:p>
            <a:pPr indent="0" marL="0">
              <a:buNone/>
            </a:pPr>
            <a:r>
              <a:rPr lang="en-US" sz="1250" b="1" spc="150" kern="0" dirty="0">
                <a:solidFill>
                  <a:srgbClr val="1C7293"/>
                </a:solidFill>
                <a:latin typeface="Calibri" pitchFamily="34" charset="0"/>
                <a:ea typeface="Calibri" pitchFamily="34" charset="-122"/>
                <a:cs typeface="Calibri" pitchFamily="34" charset="-120"/>
              </a:rPr>
              <a:t>SIMULACIÓN</a:t>
            </a:r>
            <a:endParaRPr lang="en-US" sz="1250" dirty="0"/>
          </a:p>
        </p:txBody>
      </p:sp>
      <p:sp>
        <p:nvSpPr>
          <p:cNvPr id="4" name="Text 1"/>
          <p:cNvSpPr txBox="1"/>
          <p:nvPr/>
        </p:nvSpPr>
        <p:spPr>
          <a:xfrm>
            <a:off x="1280160" y="713232"/>
            <a:ext cx="9601200" cy="566928"/>
          </a:xfrm>
          <a:prstGeom prst="rect">
            <a:avLst/>
          </a:prstGeom>
          <a:noFill/>
          <a:ln/>
        </p:spPr>
        <p:txBody>
          <a:bodyPr wrap="square" lIns="0" tIns="0" rIns="0" bIns="0" rtlCol="0" anchor="ctr"/>
          <a:lstStyle/>
          <a:p>
            <a:pPr indent="0" marL="0">
              <a:buNone/>
            </a:pPr>
            <a:r>
              <a:rPr lang="en-US" sz="3000" b="1" dirty="0">
                <a:solidFill>
                  <a:srgbClr val="0B3D5C"/>
                </a:solidFill>
                <a:latin typeface="Cambria" pitchFamily="34" charset="0"/>
                <a:ea typeface="Cambria" pitchFamily="34" charset="-122"/>
                <a:cs typeface="Cambria" pitchFamily="34" charset="-120"/>
              </a:rPr>
              <a:t>Todo ocurre en tiempo real</a:t>
            </a:r>
            <a:endParaRPr lang="en-US" sz="3000" dirty="0"/>
          </a:p>
        </p:txBody>
      </p:sp>
      <p:sp>
        <p:nvSpPr>
          <p:cNvPr id="5" name="Shape 2"/>
          <p:cNvSpPr/>
          <p:nvPr/>
        </p:nvSpPr>
        <p:spPr>
          <a:xfrm>
            <a:off x="6355080" y="1600200"/>
            <a:ext cx="5212080" cy="3703320"/>
          </a:xfrm>
          <a:prstGeom prst="roundRect">
            <a:avLst>
              <a:gd name="adj" fmla="val 1975"/>
            </a:avLst>
          </a:prstGeom>
          <a:solidFill>
            <a:srgbClr val="FFFFFF"/>
          </a:solidFill>
          <a:ln w="12700">
            <a:solidFill>
              <a:srgbClr val="DCE6EB"/>
            </a:solidFill>
            <a:prstDash val="solid"/>
          </a:ln>
          <a:effectLst>
            <a:outerShdw sx="100000" sy="100000" kx="0" ky="0" algn="bl" rotWithShape="0" blurRad="127000" dist="50800" dir="5400000">
              <a:srgbClr val="667788">
                <a:alpha val="30000"/>
              </a:srgbClr>
            </a:outerShdw>
          </a:effectLst>
        </p:spPr>
      </p:sp>
      <p:sp>
        <p:nvSpPr>
          <p:cNvPr id="6" name="Text 3"/>
          <p:cNvSpPr txBox="1"/>
          <p:nvPr/>
        </p:nvSpPr>
        <p:spPr>
          <a:xfrm>
            <a:off x="6355080" y="1737360"/>
            <a:ext cx="5212080" cy="274320"/>
          </a:xfrm>
          <a:prstGeom prst="rect">
            <a:avLst/>
          </a:prstGeom>
          <a:noFill/>
          <a:ln/>
        </p:spPr>
        <p:txBody>
          <a:bodyPr wrap="square" lIns="0" tIns="0" rIns="0" bIns="0" rtlCol="0" anchor="ctr"/>
          <a:lstStyle/>
          <a:p>
            <a:pPr algn="ctr" indent="0" marL="0">
              <a:buNone/>
            </a:pPr>
            <a:r>
              <a:rPr lang="en-US" sz="1150" i="1" dirty="0">
                <a:solidFill>
                  <a:srgbClr val="5C7A8A"/>
                </a:solidFill>
                <a:latin typeface="Calibri" pitchFamily="34" charset="0"/>
                <a:ea typeface="Calibri" pitchFamily="34" charset="-122"/>
                <a:cs typeface="Calibri" pitchFamily="34" charset="-120"/>
              </a:rPr>
              <a:t>Interfaz de la simulación en ejecución</a:t>
            </a:r>
            <a:endParaRPr lang="en-US" sz="1150" dirty="0"/>
          </a:p>
        </p:txBody>
      </p:sp>
      <p:pic>
        <p:nvPicPr>
          <p:cNvPr id="7" name="Image 1" descr="C:/Users/Usuario/Desktop/AIDA-PROJECT/Images/image.png">    </p:cNvPr>
          <p:cNvPicPr>
            <a:picLocks noChangeAspect="1"/>
          </p:cNvPicPr>
          <p:nvPr/>
        </p:nvPicPr>
        <p:blipFill>
          <a:blip r:embed="rId2"/>
          <a:stretch>
            <a:fillRect/>
          </a:stretch>
        </p:blipFill>
        <p:spPr>
          <a:xfrm>
            <a:off x="6537960" y="2103120"/>
            <a:ext cx="4846320" cy="2867665"/>
          </a:xfrm>
          <a:prstGeom prst="rect">
            <a:avLst/>
          </a:prstGeom>
        </p:spPr>
      </p:pic>
      <p:pic>
        <p:nvPicPr>
          <p:cNvPr id="8" name="Image 2" descr="C:\Users\Usuario\AppData\Local\Temp\claude\C--Users-Usuario-Desktop-AIDA-PROJECT\a0957269-a27b-472d-9403-64cb0a8be545\scratchpad\pptx_project\icons\sliders.png">    </p:cNvPr>
          <p:cNvPicPr>
            <a:picLocks noChangeAspect="1"/>
          </p:cNvPicPr>
          <p:nvPr/>
        </p:nvPicPr>
        <p:blipFill>
          <a:blip r:embed="rId3"/>
          <a:stretch>
            <a:fillRect/>
          </a:stretch>
        </p:blipFill>
        <p:spPr>
          <a:xfrm>
            <a:off x="640080" y="1645920"/>
            <a:ext cx="502920" cy="502920"/>
          </a:xfrm>
          <a:prstGeom prst="rect">
            <a:avLst/>
          </a:prstGeom>
        </p:spPr>
      </p:pic>
      <p:sp>
        <p:nvSpPr>
          <p:cNvPr id="9" name="Text 4"/>
          <p:cNvSpPr txBox="1"/>
          <p:nvPr/>
        </p:nvSpPr>
        <p:spPr>
          <a:xfrm>
            <a:off x="1325880" y="1618488"/>
            <a:ext cx="4754880" cy="320040"/>
          </a:xfrm>
          <a:prstGeom prst="rect">
            <a:avLst/>
          </a:prstGeom>
          <a:noFill/>
          <a:ln/>
        </p:spPr>
        <p:txBody>
          <a:bodyPr wrap="square" lIns="0" tIns="0" rIns="0" bIns="0" rtlCol="0" anchor="ctr"/>
          <a:lstStyle/>
          <a:p>
            <a:pPr indent="0" marL="0">
              <a:buNone/>
            </a:pPr>
            <a:r>
              <a:rPr lang="en-US" sz="1400" b="1" dirty="0">
                <a:solidFill>
                  <a:srgbClr val="0B3D5C"/>
                </a:solidFill>
                <a:latin typeface="Calibri" pitchFamily="34" charset="0"/>
                <a:ea typeface="Calibri" pitchFamily="34" charset="-122"/>
                <a:cs typeface="Calibri" pitchFamily="34" charset="-120"/>
              </a:rPr>
              <a:t>Controladores en vivo</a:t>
            </a:r>
            <a:endParaRPr lang="en-US" sz="1400" dirty="0"/>
          </a:p>
        </p:txBody>
      </p:sp>
      <p:sp>
        <p:nvSpPr>
          <p:cNvPr id="10" name="Text 5"/>
          <p:cNvSpPr txBox="1"/>
          <p:nvPr/>
        </p:nvSpPr>
        <p:spPr>
          <a:xfrm>
            <a:off x="1325880" y="1947672"/>
            <a:ext cx="4846320" cy="777240"/>
          </a:xfrm>
          <a:prstGeom prst="rect">
            <a:avLst/>
          </a:prstGeom>
          <a:noFill/>
          <a:ln/>
        </p:spPr>
        <p:txBody>
          <a:bodyPr wrap="square" lIns="0" tIns="0" rIns="0" bIns="0" rtlCol="0" anchor="t"/>
          <a:lstStyle/>
          <a:p>
            <a:pPr indent="0" marL="0">
              <a:buNone/>
            </a:pPr>
            <a:r>
              <a:rPr lang="en-US" sz="1150" dirty="0">
                <a:solidFill>
                  <a:srgbClr val="1B2A33"/>
                </a:solidFill>
                <a:latin typeface="Calibri" pitchFamily="34" charset="0"/>
                <a:ea typeface="Calibri" pitchFamily="34" charset="-122"/>
                <a:cs typeface="Calibri" pitchFamily="34" charset="-120"/>
              </a:rPr>
              <a:t>Población, radio y probabilidad de contagio, mortalidad, capacidad de los centros, efectividad de la vacuna... todo se mueve sin reiniciar.</a:t>
            </a:r>
            <a:endParaRPr lang="en-US" sz="1150" dirty="0"/>
          </a:p>
        </p:txBody>
      </p:sp>
      <p:pic>
        <p:nvPicPr>
          <p:cNvPr id="11" name="Image 3" descr="C:\Users\Usuario\AppData\Local\Temp\claude\C--Users-Usuario-Desktop-AIDA-PROJECT\a0957269-a27b-472d-9403-64cb0a8be545\scratchpad\pptx_project\icons\users.png">    </p:cNvPr>
          <p:cNvPicPr>
            <a:picLocks noChangeAspect="1"/>
          </p:cNvPicPr>
          <p:nvPr/>
        </p:nvPicPr>
        <p:blipFill>
          <a:blip r:embed="rId4"/>
          <a:stretch>
            <a:fillRect/>
          </a:stretch>
        </p:blipFill>
        <p:spPr>
          <a:xfrm>
            <a:off x="640080" y="2944368"/>
            <a:ext cx="502920" cy="502920"/>
          </a:xfrm>
          <a:prstGeom prst="rect">
            <a:avLst/>
          </a:prstGeom>
        </p:spPr>
      </p:pic>
      <p:sp>
        <p:nvSpPr>
          <p:cNvPr id="12" name="Text 6"/>
          <p:cNvSpPr txBox="1"/>
          <p:nvPr/>
        </p:nvSpPr>
        <p:spPr>
          <a:xfrm>
            <a:off x="1325880" y="2916936"/>
            <a:ext cx="4754880" cy="320040"/>
          </a:xfrm>
          <a:prstGeom prst="rect">
            <a:avLst/>
          </a:prstGeom>
          <a:noFill/>
          <a:ln/>
        </p:spPr>
        <p:txBody>
          <a:bodyPr wrap="square" lIns="0" tIns="0" rIns="0" bIns="0" rtlCol="0" anchor="ctr"/>
          <a:lstStyle/>
          <a:p>
            <a:pPr indent="0" marL="0">
              <a:buNone/>
            </a:pPr>
            <a:r>
              <a:rPr lang="en-US" sz="1400" b="1" dirty="0">
                <a:solidFill>
                  <a:srgbClr val="0B3D5C"/>
                </a:solidFill>
                <a:latin typeface="Calibri" pitchFamily="34" charset="0"/>
                <a:ea typeface="Calibri" pitchFamily="34" charset="-122"/>
                <a:cs typeface="Calibri" pitchFamily="34" charset="-120"/>
              </a:rPr>
              <a:t>Mapa y contadores</a:t>
            </a:r>
            <a:endParaRPr lang="en-US" sz="1400" dirty="0"/>
          </a:p>
        </p:txBody>
      </p:sp>
      <p:sp>
        <p:nvSpPr>
          <p:cNvPr id="13" name="Text 7"/>
          <p:cNvSpPr txBox="1"/>
          <p:nvPr/>
        </p:nvSpPr>
        <p:spPr>
          <a:xfrm>
            <a:off x="1325880" y="3246120"/>
            <a:ext cx="4846320" cy="777240"/>
          </a:xfrm>
          <a:prstGeom prst="rect">
            <a:avLst/>
          </a:prstGeom>
          <a:noFill/>
          <a:ln/>
        </p:spPr>
        <p:txBody>
          <a:bodyPr wrap="square" lIns="0" tIns="0" rIns="0" bIns="0" rtlCol="0" anchor="t"/>
          <a:lstStyle/>
          <a:p>
            <a:pPr indent="0" marL="0">
              <a:buNone/>
            </a:pPr>
            <a:r>
              <a:rPr lang="en-US" sz="1150" dirty="0">
                <a:solidFill>
                  <a:srgbClr val="1B2A33"/>
                </a:solidFill>
                <a:latin typeface="Calibri" pitchFamily="34" charset="0"/>
                <a:ea typeface="Calibri" pitchFamily="34" charset="-122"/>
                <a:cs typeface="Calibri" pitchFamily="34" charset="-120"/>
              </a:rPr>
              <a:t>Personas moviéndose, centros de vacunación, filas, y el conteo exacto por estado día a día.</a:t>
            </a:r>
            <a:endParaRPr lang="en-US" sz="1150" dirty="0"/>
          </a:p>
        </p:txBody>
      </p:sp>
      <p:pic>
        <p:nvPicPr>
          <p:cNvPr id="14" name="Image 4" descr="C:\Users\Usuario\AppData\Local\Temp\claude\C--Users-Usuario-Desktop-AIDA-PROJECT\a0957269-a27b-472d-9403-64cb0a8be545\scratchpad\pptx_project\icons\excel.png">    </p:cNvPr>
          <p:cNvPicPr>
            <a:picLocks noChangeAspect="1"/>
          </p:cNvPicPr>
          <p:nvPr/>
        </p:nvPicPr>
        <p:blipFill>
          <a:blip r:embed="rId5"/>
          <a:stretch>
            <a:fillRect/>
          </a:stretch>
        </p:blipFill>
        <p:spPr>
          <a:xfrm>
            <a:off x="640080" y="4242816"/>
            <a:ext cx="502920" cy="502920"/>
          </a:xfrm>
          <a:prstGeom prst="rect">
            <a:avLst/>
          </a:prstGeom>
        </p:spPr>
      </p:pic>
      <p:sp>
        <p:nvSpPr>
          <p:cNvPr id="15" name="Text 8"/>
          <p:cNvSpPr txBox="1"/>
          <p:nvPr/>
        </p:nvSpPr>
        <p:spPr>
          <a:xfrm>
            <a:off x="1325880" y="4215384"/>
            <a:ext cx="4754880" cy="320040"/>
          </a:xfrm>
          <a:prstGeom prst="rect">
            <a:avLst/>
          </a:prstGeom>
          <a:noFill/>
          <a:ln/>
        </p:spPr>
        <p:txBody>
          <a:bodyPr wrap="square" lIns="0" tIns="0" rIns="0" bIns="0" rtlCol="0" anchor="ctr"/>
          <a:lstStyle/>
          <a:p>
            <a:pPr indent="0" marL="0">
              <a:buNone/>
            </a:pPr>
            <a:r>
              <a:rPr lang="en-US" sz="1400" b="1" dirty="0">
                <a:solidFill>
                  <a:srgbClr val="0B3D5C"/>
                </a:solidFill>
                <a:latin typeface="Calibri" pitchFamily="34" charset="0"/>
                <a:ea typeface="Calibri" pitchFamily="34" charset="-122"/>
                <a:cs typeface="Calibri" pitchFamily="34" charset="-120"/>
              </a:rPr>
              <a:t>Exportación a Excel</a:t>
            </a:r>
            <a:endParaRPr lang="en-US" sz="1400" dirty="0"/>
          </a:p>
        </p:txBody>
      </p:sp>
      <p:sp>
        <p:nvSpPr>
          <p:cNvPr id="16" name="Text 9"/>
          <p:cNvSpPr txBox="1"/>
          <p:nvPr/>
        </p:nvSpPr>
        <p:spPr>
          <a:xfrm>
            <a:off x="1325880" y="4544568"/>
            <a:ext cx="4846320" cy="777240"/>
          </a:xfrm>
          <a:prstGeom prst="rect">
            <a:avLst/>
          </a:prstGeom>
          <a:noFill/>
          <a:ln/>
        </p:spPr>
        <p:txBody>
          <a:bodyPr wrap="square" lIns="0" tIns="0" rIns="0" bIns="0" rtlCol="0" anchor="t"/>
          <a:lstStyle/>
          <a:p>
            <a:pPr indent="0" marL="0">
              <a:buNone/>
            </a:pPr>
            <a:r>
              <a:rPr lang="en-US" sz="1150" dirty="0">
                <a:solidFill>
                  <a:srgbClr val="1B2A33"/>
                </a:solidFill>
                <a:latin typeface="Calibri" pitchFamily="34" charset="0"/>
                <a:ea typeface="Calibri" pitchFamily="34" charset="-122"/>
                <a:cs typeface="Calibri" pitchFamily="34" charset="-120"/>
              </a:rPr>
              <a:t>Un botón guarda toda la corrida (datos por día + parámetros usados) para comparar entre corridas.</a:t>
            </a:r>
            <a:endParaRPr lang="en-US" sz="1150" dirty="0"/>
          </a:p>
        </p:txBody>
      </p:sp>
      <p:sp>
        <p:nvSpPr>
          <p:cNvPr id="17" name="Text 10"/>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50" dirty="0">
                <a:solidFill>
                  <a:srgbClr val="5C7A8A"/>
                </a:solidFill>
                <a:latin typeface="Calibri" pitchFamily="34" charset="0"/>
                <a:ea typeface="Calibri" pitchFamily="34" charset="-122"/>
                <a:cs typeface="Calibri" pitchFamily="34" charset="-120"/>
              </a:rPr>
              <a:t>Simulación de epidemia — Centros de vacunación</a:t>
            </a:r>
            <a:endParaRPr lang="en-US" sz="950" dirty="0"/>
          </a:p>
        </p:txBody>
      </p:sp>
      <p:sp>
        <p:nvSpPr>
          <p:cNvPr id="18" name="Text 11"/>
          <p:cNvSpPr txBox="1"/>
          <p:nvPr/>
        </p:nvSpPr>
        <p:spPr>
          <a:xfrm>
            <a:off x="11185855" y="6510528"/>
            <a:ext cx="457200" cy="274320"/>
          </a:xfrm>
          <a:prstGeom prst="rect">
            <a:avLst/>
          </a:prstGeom>
          <a:noFill/>
          <a:ln/>
        </p:spPr>
        <p:txBody>
          <a:bodyPr wrap="square" lIns="0" tIns="0" rIns="0" bIns="0" rtlCol="0" anchor="ctr"/>
          <a:lstStyle/>
          <a:p>
            <a:pPr algn="r" indent="0" marL="0">
              <a:buNone/>
            </a:pPr>
            <a:r>
              <a:rPr lang="en-US" sz="950" dirty="0">
                <a:solidFill>
                  <a:srgbClr val="5C7A8A"/>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3D5C"/>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1C7293">
              <a:alpha val="20000"/>
            </a:srgbClr>
          </a:solidFill>
          <a:ln/>
        </p:spPr>
      </p:sp>
      <p:pic>
        <p:nvPicPr>
          <p:cNvPr id="3" name="Image 0" descr="C:\Users\Usuario\AppData\Local\Temp\claude\C--Users-Usuario-Desktop-AIDA-PROJECT\a0957269-a27b-472d-9403-64cb0a8be545\scratchpad\pptx_project\icons\hospital.png">    </p:cNvPr>
          <p:cNvPicPr>
            <a:picLocks noChangeAspect="1"/>
          </p:cNvPicPr>
          <p:nvPr/>
        </p:nvPicPr>
        <p:blipFill>
          <a:blip r:embed="rId1"/>
          <a:stretch>
            <a:fillRect/>
          </a:stretch>
        </p:blipFill>
        <p:spPr>
          <a:xfrm>
            <a:off x="548640" y="502920"/>
            <a:ext cx="566928" cy="566928"/>
          </a:xfrm>
          <a:prstGeom prst="rect">
            <a:avLst/>
          </a:prstGeom>
        </p:spPr>
      </p:pic>
      <p:sp>
        <p:nvSpPr>
          <p:cNvPr id="4" name="Text 1"/>
          <p:cNvSpPr txBox="1"/>
          <p:nvPr/>
        </p:nvSpPr>
        <p:spPr>
          <a:xfrm>
            <a:off x="1234440" y="566928"/>
            <a:ext cx="8229600" cy="365760"/>
          </a:xfrm>
          <a:prstGeom prst="rect">
            <a:avLst/>
          </a:prstGeom>
          <a:noFill/>
          <a:ln/>
        </p:spPr>
        <p:txBody>
          <a:bodyPr wrap="square" lIns="0" tIns="0" rIns="0" bIns="0" rtlCol="0" anchor="ctr"/>
          <a:lstStyle/>
          <a:p>
            <a:pPr indent="0" marL="0">
              <a:buNone/>
            </a:pPr>
            <a:r>
              <a:rPr lang="en-US" sz="1300" b="1" spc="150" kern="0" dirty="0">
                <a:solidFill>
                  <a:srgbClr val="8FD3E8"/>
                </a:solidFill>
                <a:latin typeface="Calibri" pitchFamily="34" charset="0"/>
                <a:ea typeface="Calibri" pitchFamily="34" charset="-122"/>
                <a:cs typeface="Calibri" pitchFamily="34" charset="-120"/>
              </a:rPr>
              <a:t>DE LA SIMULACIÓN A UN CASO REAL</a:t>
            </a:r>
            <a:endParaRPr lang="en-US" sz="1300" dirty="0"/>
          </a:p>
        </p:txBody>
      </p:sp>
      <p:sp>
        <p:nvSpPr>
          <p:cNvPr id="5" name="Text 2"/>
          <p:cNvSpPr txBox="1"/>
          <p:nvPr/>
        </p:nvSpPr>
        <p:spPr>
          <a:xfrm>
            <a:off x="1234440" y="868680"/>
            <a:ext cx="96012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Por qué le sirve a un hospital</a:t>
            </a:r>
            <a:endParaRPr lang="en-US" sz="2800" dirty="0"/>
          </a:p>
        </p:txBody>
      </p:sp>
      <p:sp>
        <p:nvSpPr>
          <p:cNvPr id="6" name="Shape 3"/>
          <p:cNvSpPr/>
          <p:nvPr/>
        </p:nvSpPr>
        <p:spPr>
          <a:xfrm>
            <a:off x="640080" y="1828800"/>
            <a:ext cx="3383280" cy="2331720"/>
          </a:xfrm>
          <a:prstGeom prst="roundRect">
            <a:avLst>
              <a:gd name="adj" fmla="val 3922"/>
            </a:avLst>
          </a:prstGeom>
          <a:solidFill>
            <a:srgbClr val="13486B"/>
          </a:solidFill>
          <a:ln/>
        </p:spPr>
      </p:sp>
      <p:sp>
        <p:nvSpPr>
          <p:cNvPr id="7" name="Text 4"/>
          <p:cNvSpPr txBox="1"/>
          <p:nvPr/>
        </p:nvSpPr>
        <p:spPr>
          <a:xfrm>
            <a:off x="914400" y="2103120"/>
            <a:ext cx="2834640" cy="411480"/>
          </a:xfrm>
          <a:prstGeom prst="rect">
            <a:avLst/>
          </a:prstGeom>
          <a:noFill/>
          <a:ln/>
        </p:spPr>
        <p:txBody>
          <a:bodyPr wrap="square" lIns="0" tIns="0" rIns="0" bIns="0" rtlCol="0" anchor="ctr"/>
          <a:lstStyle/>
          <a:p>
            <a:pPr indent="0" marL="0">
              <a:buNone/>
            </a:pPr>
            <a:r>
              <a:rPr lang="en-US" sz="1650" b="1" dirty="0">
                <a:solidFill>
                  <a:srgbClr val="E4572E"/>
                </a:solidFill>
                <a:latin typeface="Cambria" pitchFamily="34" charset="0"/>
                <a:ea typeface="Cambria" pitchFamily="34" charset="-122"/>
                <a:cs typeface="Cambria" pitchFamily="34" charset="-120"/>
              </a:rPr>
              <a:t>Recurso limitado</a:t>
            </a:r>
            <a:endParaRPr lang="en-US" sz="1650" dirty="0"/>
          </a:p>
        </p:txBody>
      </p:sp>
      <p:sp>
        <p:nvSpPr>
          <p:cNvPr id="8" name="Text 5"/>
          <p:cNvSpPr txBox="1"/>
          <p:nvPr/>
        </p:nvSpPr>
        <p:spPr>
          <a:xfrm>
            <a:off x="914400" y="2606040"/>
            <a:ext cx="2834640" cy="1417320"/>
          </a:xfrm>
          <a:prstGeom prst="rect">
            <a:avLst/>
          </a:prstGeom>
          <a:noFill/>
          <a:ln/>
        </p:spPr>
        <p:txBody>
          <a:bodyPr wrap="square" lIns="0" tIns="0" rIns="0" bIns="0" rtlCol="0" anchor="t"/>
          <a:lstStyle/>
          <a:p>
            <a:pPr indent="0" marL="0">
              <a:buNone/>
            </a:pPr>
            <a:r>
              <a:rPr lang="en-US" sz="1250" dirty="0">
                <a:solidFill>
                  <a:srgbClr val="D7E4EA"/>
                </a:solidFill>
                <a:latin typeface="Calibri" pitchFamily="34" charset="0"/>
                <a:ea typeface="Calibri" pitchFamily="34" charset="-122"/>
                <a:cs typeface="Calibri" pitchFamily="34" charset="-120"/>
              </a:rPr>
              <a:t>Camas UCI, personal médico, pruebas o dosis de vacuna: cualquier recurso escaso genera el mismo patrón de fila.</a:t>
            </a:r>
            <a:endParaRPr lang="en-US" sz="1250" dirty="0"/>
          </a:p>
        </p:txBody>
      </p:sp>
      <p:sp>
        <p:nvSpPr>
          <p:cNvPr id="9" name="Shape 6"/>
          <p:cNvSpPr/>
          <p:nvPr/>
        </p:nvSpPr>
        <p:spPr>
          <a:xfrm>
            <a:off x="4343400" y="1828800"/>
            <a:ext cx="3383280" cy="2331720"/>
          </a:xfrm>
          <a:prstGeom prst="roundRect">
            <a:avLst>
              <a:gd name="adj" fmla="val 3922"/>
            </a:avLst>
          </a:prstGeom>
          <a:solidFill>
            <a:srgbClr val="13486B"/>
          </a:solidFill>
          <a:ln/>
        </p:spPr>
      </p:sp>
      <p:sp>
        <p:nvSpPr>
          <p:cNvPr id="10" name="Text 7"/>
          <p:cNvSpPr txBox="1"/>
          <p:nvPr/>
        </p:nvSpPr>
        <p:spPr>
          <a:xfrm>
            <a:off x="4617720" y="2103120"/>
            <a:ext cx="2834640" cy="411480"/>
          </a:xfrm>
          <a:prstGeom prst="rect">
            <a:avLst/>
          </a:prstGeom>
          <a:noFill/>
          <a:ln/>
        </p:spPr>
        <p:txBody>
          <a:bodyPr wrap="square" lIns="0" tIns="0" rIns="0" bIns="0" rtlCol="0" anchor="ctr"/>
          <a:lstStyle/>
          <a:p>
            <a:pPr indent="0" marL="0">
              <a:buNone/>
            </a:pPr>
            <a:r>
              <a:rPr lang="en-US" sz="1650" b="1" dirty="0">
                <a:solidFill>
                  <a:srgbClr val="8FD3E8"/>
                </a:solidFill>
                <a:latin typeface="Cambria" pitchFamily="34" charset="0"/>
                <a:ea typeface="Cambria" pitchFamily="34" charset="-122"/>
                <a:cs typeface="Cambria" pitchFamily="34" charset="-120"/>
              </a:rPr>
              <a:t>Fila = riesgo</a:t>
            </a:r>
            <a:endParaRPr lang="en-US" sz="1650" dirty="0"/>
          </a:p>
        </p:txBody>
      </p:sp>
      <p:sp>
        <p:nvSpPr>
          <p:cNvPr id="11" name="Text 8"/>
          <p:cNvSpPr txBox="1"/>
          <p:nvPr/>
        </p:nvSpPr>
        <p:spPr>
          <a:xfrm>
            <a:off x="4617720" y="2606040"/>
            <a:ext cx="2834640" cy="1417320"/>
          </a:xfrm>
          <a:prstGeom prst="rect">
            <a:avLst/>
          </a:prstGeom>
          <a:noFill/>
          <a:ln/>
        </p:spPr>
        <p:txBody>
          <a:bodyPr wrap="square" lIns="0" tIns="0" rIns="0" bIns="0" rtlCol="0" anchor="t"/>
          <a:lstStyle/>
          <a:p>
            <a:pPr indent="0" marL="0">
              <a:buNone/>
            </a:pPr>
            <a:r>
              <a:rPr lang="en-US" sz="1250" dirty="0">
                <a:solidFill>
                  <a:srgbClr val="D7E4EA"/>
                </a:solidFill>
                <a:latin typeface="Calibri" pitchFamily="34" charset="0"/>
                <a:ea typeface="Calibri" pitchFamily="34" charset="-122"/>
                <a:cs typeface="Calibri" pitchFamily="34" charset="-120"/>
              </a:rPr>
              <a:t>Concentrar personas esperando aumenta el contagio en el propio punto de atención si no se gestiona.</a:t>
            </a:r>
            <a:endParaRPr lang="en-US" sz="1250" dirty="0"/>
          </a:p>
        </p:txBody>
      </p:sp>
      <p:sp>
        <p:nvSpPr>
          <p:cNvPr id="12" name="Shape 9"/>
          <p:cNvSpPr/>
          <p:nvPr/>
        </p:nvSpPr>
        <p:spPr>
          <a:xfrm>
            <a:off x="8046720" y="1828800"/>
            <a:ext cx="3383280" cy="2331720"/>
          </a:xfrm>
          <a:prstGeom prst="roundRect">
            <a:avLst>
              <a:gd name="adj" fmla="val 3922"/>
            </a:avLst>
          </a:prstGeom>
          <a:solidFill>
            <a:srgbClr val="13486B"/>
          </a:solidFill>
          <a:ln/>
        </p:spPr>
      </p:sp>
      <p:sp>
        <p:nvSpPr>
          <p:cNvPr id="13" name="Text 10"/>
          <p:cNvSpPr txBox="1"/>
          <p:nvPr/>
        </p:nvSpPr>
        <p:spPr>
          <a:xfrm>
            <a:off x="8321040" y="2103120"/>
            <a:ext cx="2834640" cy="411480"/>
          </a:xfrm>
          <a:prstGeom prst="rect">
            <a:avLst/>
          </a:prstGeom>
          <a:noFill/>
          <a:ln/>
        </p:spPr>
        <p:txBody>
          <a:bodyPr wrap="square" lIns="0" tIns="0" rIns="0" bIns="0" rtlCol="0" anchor="ctr"/>
          <a:lstStyle/>
          <a:p>
            <a:pPr indent="0" marL="0">
              <a:buNone/>
            </a:pPr>
            <a:r>
              <a:rPr lang="en-US" sz="1650" b="1" dirty="0">
                <a:solidFill>
                  <a:srgbClr val="06A77D"/>
                </a:solidFill>
                <a:latin typeface="Cambria" pitchFamily="34" charset="0"/>
                <a:ea typeface="Cambria" pitchFamily="34" charset="-122"/>
                <a:cs typeface="Cambria" pitchFamily="34" charset="-120"/>
              </a:rPr>
              <a:t>Capacidad a decidir</a:t>
            </a:r>
            <a:endParaRPr lang="en-US" sz="1650" dirty="0"/>
          </a:p>
        </p:txBody>
      </p:sp>
      <p:sp>
        <p:nvSpPr>
          <p:cNvPr id="14" name="Text 11"/>
          <p:cNvSpPr txBox="1"/>
          <p:nvPr/>
        </p:nvSpPr>
        <p:spPr>
          <a:xfrm>
            <a:off x="8321040" y="2606040"/>
            <a:ext cx="2834640" cy="1417320"/>
          </a:xfrm>
          <a:prstGeom prst="rect">
            <a:avLst/>
          </a:prstGeom>
          <a:noFill/>
          <a:ln/>
        </p:spPr>
        <p:txBody>
          <a:bodyPr wrap="square" lIns="0" tIns="0" rIns="0" bIns="0" rtlCol="0" anchor="t"/>
          <a:lstStyle/>
          <a:p>
            <a:pPr indent="0" marL="0">
              <a:buNone/>
            </a:pPr>
            <a:r>
              <a:rPr lang="en-US" sz="1250" dirty="0">
                <a:solidFill>
                  <a:srgbClr val="D7E4EA"/>
                </a:solidFill>
                <a:latin typeface="Calibri" pitchFamily="34" charset="0"/>
                <a:ea typeface="Calibri" pitchFamily="34" charset="-122"/>
                <a:cs typeface="Calibri" pitchFamily="34" charset="-120"/>
              </a:rPr>
              <a:t>El modelo ayuda a dimensionar cuánta capacidad instalar y cómo distribuirla para minimizar ese riesgo.</a:t>
            </a:r>
            <a:endParaRPr lang="en-US" sz="1250" dirty="0"/>
          </a:p>
        </p:txBody>
      </p:sp>
      <p:sp>
        <p:nvSpPr>
          <p:cNvPr id="15" name="Shape 12"/>
          <p:cNvSpPr/>
          <p:nvPr/>
        </p:nvSpPr>
        <p:spPr>
          <a:xfrm>
            <a:off x="640080" y="4526280"/>
            <a:ext cx="10881360" cy="0"/>
          </a:xfrm>
          <a:prstGeom prst="line">
            <a:avLst/>
          </a:prstGeom>
          <a:noFill/>
          <a:ln w="12700">
            <a:solidFill>
              <a:srgbClr val="2E5C78"/>
            </a:solidFill>
            <a:prstDash val="solid"/>
          </a:ln>
        </p:spPr>
      </p:sp>
      <p:sp>
        <p:nvSpPr>
          <p:cNvPr id="16" name="Text 13"/>
          <p:cNvSpPr txBox="1"/>
          <p:nvPr/>
        </p:nvSpPr>
        <p:spPr>
          <a:xfrm>
            <a:off x="640080" y="4754880"/>
            <a:ext cx="10881360" cy="9144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En resumen: </a:t>
            </a:r>
            <a:pPr indent="0" marL="0">
              <a:buNone/>
            </a:pPr>
            <a:r>
              <a:rPr lang="en-US" sz="1500" dirty="0">
                <a:solidFill>
                  <a:srgbClr val="D7E4EA"/>
                </a:solidFill>
                <a:latin typeface="Calibri" pitchFamily="34" charset="0"/>
                <a:ea typeface="Calibri" pitchFamily="34" charset="-122"/>
                <a:cs typeface="Calibri" pitchFamily="34" charset="-120"/>
              </a:rPr>
              <a:t>la base es el modelo SIR clásico visto en clase, y el aporte propio fue esta capa de decisión sobre cómo repartir un recurso limitado — las vacunas.</a:t>
            </a:r>
            <a:endParaRPr lang="en-US" sz="1500" dirty="0"/>
          </a:p>
        </p:txBody>
      </p:sp>
      <p:sp>
        <p:nvSpPr>
          <p:cNvPr id="17" name="Text 14"/>
          <p:cNvSpPr txBox="1"/>
          <p:nvPr/>
        </p:nvSpPr>
        <p:spPr>
          <a:xfrm>
            <a:off x="640080" y="5852160"/>
            <a:ext cx="5486400" cy="548640"/>
          </a:xfrm>
          <a:prstGeom prst="rect">
            <a:avLst/>
          </a:prstGeom>
          <a:noFill/>
          <a:ln/>
        </p:spPr>
        <p:txBody>
          <a:bodyPr wrap="square" lIns="0" tIns="0" rIns="0" bIns="0" rtlCol="0" anchor="ctr"/>
          <a:lstStyle/>
          <a:p>
            <a:pPr indent="0" marL="0">
              <a:buNone/>
            </a:pPr>
            <a:r>
              <a:rPr lang="en-US" sz="2600" b="1" dirty="0">
                <a:solidFill>
                  <a:srgbClr val="8FD3E8"/>
                </a:solidFill>
                <a:latin typeface="Cambria" pitchFamily="34" charset="0"/>
                <a:ea typeface="Cambria" pitchFamily="34" charset="-122"/>
                <a:cs typeface="Cambria" pitchFamily="34" charset="-120"/>
              </a:rPr>
              <a:t>Gracias.</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2026-08-30T23:43:02Z</dcterms:created>
  <dcterms:modified xsi:type="dcterms:W3CDTF">2026-08-30T23:43:02Z</dcterms:modified>
</cp:coreProperties>
</file>